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147470489" r:id="rId2"/>
    <p:sldId id="2147470492" r:id="rId3"/>
    <p:sldId id="2147470493" r:id="rId4"/>
    <p:sldId id="2147470487" r:id="rId5"/>
    <p:sldId id="2147470504" r:id="rId17"/>
    <p:sldId id="2147470494" r:id="rId6"/>
    <p:sldId id="2147470501" r:id="rId7"/>
    <p:sldId id="2147470506" r:id="rId19"/>
    <p:sldId id="2147470505" r:id="rId18"/>
    <p:sldId id="2147470498" r:id="rId8"/>
    <p:sldId id="2147470497" r:id="rId9"/>
    <p:sldId id="2147470508" r:id="rId21"/>
    <p:sldId id="2147470510" r:id="rId23"/>
    <p:sldId id="2147470509" r:id="rId22"/>
    <p:sldId id="2147470507" r:id="rId20"/>
    <p:sldId id="2147470499" r:id="rId10"/>
    <p:sldId id="2147470502" r:id="rId11"/>
    <p:sldId id="214747050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5B9ED"/>
    <a:srgbClr val="47BDAE"/>
    <a:srgbClr val="30BBDA"/>
    <a:srgbClr val="47BDAF"/>
    <a:srgbClr val="696969"/>
    <a:srgbClr val="1C4D98"/>
    <a:srgbClr val="8BC431"/>
    <a:srgbClr val="97B6BA"/>
    <a:srgbClr val="24A8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1212" y="1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6.xml"/><Relationship Id="rId11" Type="http://schemas.openxmlformats.org/officeDocument/2006/relationships/slide" Target="slides/slide17.xml"/><Relationship Id="rId12" Type="http://schemas.openxmlformats.org/officeDocument/2006/relationships/slide" Target="slides/slide18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5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15.xml"/><Relationship Id="rId21" Type="http://schemas.openxmlformats.org/officeDocument/2006/relationships/slide" Target="slides/slide12.xml"/><Relationship Id="rId22" Type="http://schemas.openxmlformats.org/officeDocument/2006/relationships/slide" Target="slides/slide14.xml"/><Relationship Id="rId23" Type="http://schemas.openxmlformats.org/officeDocument/2006/relationships/slide" Target="slides/slide13.xml"/><Relationship Id="rId24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 tuning</c:v>
                </c:pt>
              </c:strCache>
            </c:strRef>
          </c:tx>
          <c:spPr>
            <a:solidFill>
              <a:srgbClr val="9DB7D5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1000">
                    <a:solidFill>
                      <a:srgbClr val="1F2937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Incident class</c:v>
                </c:pt>
                <c:pt idx="1">
                  <c:v>Domain</c:v>
                </c:pt>
                <c:pt idx="2">
                  <c:v>Severity ±1 level</c:v>
                </c:pt>
                <c:pt idx="3">
                  <c:v>Right procedure (top 3)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67.4</c:v>
                </c:pt>
                <c:pt idx="1">
                  <c:v>80.4</c:v>
                </c:pt>
                <c:pt idx="2">
                  <c:v>95.5</c:v>
                </c:pt>
                <c:pt idx="3">
                  <c:v>67.4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tuning</c:v>
                </c:pt>
              </c:strCache>
            </c:strRef>
          </c:tx>
          <c:spPr>
            <a:solidFill>
              <a:srgbClr val="1F4E79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1000">
                    <a:solidFill>
                      <a:srgbClr val="1F2937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Incident class</c:v>
                </c:pt>
                <c:pt idx="1">
                  <c:v>Domain</c:v>
                </c:pt>
                <c:pt idx="2">
                  <c:v>Severity ±1 level</c:v>
                </c:pt>
                <c:pt idx="3">
                  <c:v>Right procedure (top 3)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89.1</c:v>
                </c:pt>
                <c:pt idx="1">
                  <c:v>93.5</c:v>
                </c:pt>
                <c:pt idx="2">
                  <c:v>97.7</c:v>
                </c:pt>
                <c:pt idx="3">
                  <c:v>93.5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4C9A3C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1000">
                    <a:solidFill>
                      <a:srgbClr val="1F2937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Incident class</c:v>
                </c:pt>
                <c:pt idx="1">
                  <c:v>Domain</c:v>
                </c:pt>
                <c:pt idx="2">
                  <c:v>Severity ±1 level</c:v>
                </c:pt>
                <c:pt idx="3">
                  <c:v>Right procedure (top 3)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85</c:v>
                </c:pt>
                <c:pt idx="1">
                  <c:v>90</c:v>
                </c:pt>
                <c:pt idx="2">
                  <c:v>90</c:v>
                </c:pt>
                <c:pt idx="3">
                  <c:v>85</c:v>
                </c:pt>
              </c:numCache>
            </c:numRef>
          </c:val>
        </c:ser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1F293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4B5563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1F2937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 III: Site Guard AI, a multi-agent system that takes a construction safety or quality incident from report to verified closure with AI decision support and human approval. Presented by S.K. Sricharan (T9984).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Context, what the system is, and the live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objectives; each is delivered and measured later in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modules built and integrated in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module: what each agent does and the guardrails around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system is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Layered architecture, from users to data. Arrows show the request path. Everything runs in one Docker image; PostgreSQL is the system of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top row left to right, then the bottom row right to left. Blue = AI agent, teal = deterministic, green = a person decides.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the system was built and how accuracy was measured without fooling ourselves.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algorithms on the left, technology stack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measurement before and one after tuning, on 46 held-out cases that were never used for tuning. Scores are for the offline rules provider on synthetic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resolve_all.py drove the running product over HTTP on PostgreSQL: the agents investigated, scripted reviewers decided, and every incident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 from the running product (browser end-to-end run on main). AI output is labelled; actions wait for the HSE manager; closure needs verified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Grounded answers cite the procedure passage they come from; photo findings are suggestions for an engineer; every action is in the audit trail.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Load test of the production image on PostgreSQL 16 (one API process, 4 vCPU host) and the quality gates that run on every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was achieved, what is honestly still open, and the next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3F4D17B-9B25-2D63-E389-71163BD2C8E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FC4ED1-FB42-4A6C-B292-B8C58946A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35A630-145D-4232-9865-98341E30F7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708363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837F2-3C53-43E6-9F25-242D13C5A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2C3C5-9B28-493B-9422-74FF4AE180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70436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9B68FAD-9CFA-CBF0-4B37-9944C2E932A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D4B6E2-CC70-4366-ABC8-87480CC35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D34EE-ED80-45A7-B964-53ED80D94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3036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3BCD6-D227-4C30-8364-6F161FA12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C3054-5604-4679-AF7D-07BF06BE01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47BA85-32D5-4EA3-9F8B-5A8B92517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96123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F33A1-3BE5-4F1B-8E70-082254902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C4CAE0-72F2-4F22-A85A-772E3DA04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DE67E9-F76F-4049-98D4-82E9E7C800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332A94-E906-4159-9FE4-E63CFAE0BE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16D1AA-A642-4FEB-91F0-3F506A2AE8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39363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BF108-6EC2-4592-9D33-716E6B1A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26736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7387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2AB71-FC15-4C88-A99B-0D66CDCEE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69B3E-A4BB-45D7-ABB7-1E151F04F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FD4C72-B215-468A-8722-23007428B0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4330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42731-906B-40B4-86D3-CD7878598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1042F1-26FD-477E-A079-62384AA43E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52E8FE-8F89-4D08-8341-786A0381B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8541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B0375-D926-48D9-8605-813B1B64E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8D7657-21CC-45AA-A2CE-92653962FC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9364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A09EBA-4206-40BF-81B1-742CF8BD5B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B8BE7B-6EB1-4B41-A25B-B41833E5B2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1384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5996" y="1271219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06C9D6B8-9A00-34FD-3E41-E67F07F278E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5996" y="629525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36477356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3803" y="469835"/>
            <a:ext cx="11672300" cy="650048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24435425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Relationship Id="rId16" Type="http://schemas.openxmlformats.org/officeDocument/2006/relationships/image" Target="../media/image2.png"/><Relationship Id="rId17" Type="http://schemas.microsoft.com/office/2007/relationships/hdphoto" Target="../media/hdphoto1.wdp"/><Relationship Id="rId18" Type="http://schemas.openxmlformats.org/officeDocument/2006/relationships/image" Target="../media/image3.png"/><Relationship Id="rId19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2D087FE-85BE-5152-9EB5-3B57AE38DD48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337544"/>
            <a:ext cx="12191994" cy="15483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EFA70D2-ADBF-0DD4-D7D1-F37201867E99}"/>
              </a:ext>
            </a:extLst>
          </p:cNvPr>
          <p:cNvSpPr/>
          <p:nvPr userDrawn="1"/>
        </p:nvSpPr>
        <p:spPr>
          <a:xfrm>
            <a:off x="0" y="0"/>
            <a:ext cx="12192000" cy="365125"/>
          </a:xfrm>
          <a:prstGeom prst="rect">
            <a:avLst/>
          </a:prstGeom>
          <a:gradFill>
            <a:gsLst>
              <a:gs pos="5000">
                <a:srgbClr val="47BDAE"/>
              </a:gs>
              <a:gs pos="59000">
                <a:srgbClr val="25B9ED"/>
              </a:gs>
              <a:gs pos="100000">
                <a:srgbClr val="FFFF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2000" b="1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C08DB-FBED-4A43-AE4B-B2CE371FE6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271" y="1191757"/>
            <a:ext cx="11004446" cy="4795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028" name="Picture 4" descr="LTIMindtree logo in transparent PNG and vectorized SVG formats">
            <a:extLst>
              <a:ext uri="{FF2B5EF4-FFF2-40B4-BE49-F238E27FC236}">
                <a16:creationId xmlns:a16="http://schemas.microsoft.com/office/drawing/2014/main" id="{21F70453-17DB-04F6-290A-DCDEF9FDE02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saturation sat="400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5387" y="6562429"/>
            <a:ext cx="1541059" cy="295571"/>
          </a:xfrm>
          <a:prstGeom prst="rect">
            <a:avLst/>
          </a:prstGeom>
          <a:noFill/>
        </p:spPr>
      </p:pic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BDE3A73-7407-B3B5-0BC2-D13C973D143A}"/>
              </a:ext>
            </a:extLst>
          </p:cNvPr>
          <p:cNvSpPr txBox="1">
            <a:spLocks/>
          </p:cNvSpPr>
          <p:nvPr userDrawn="1"/>
        </p:nvSpPr>
        <p:spPr>
          <a:xfrm>
            <a:off x="221274" y="88514"/>
            <a:ext cx="8176583" cy="1103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70A0B4C8-C250-76C3-01DB-D728F6B32656}"/>
              </a:ext>
            </a:extLst>
          </p:cNvPr>
          <p:cNvSpPr txBox="1">
            <a:spLocks/>
          </p:cNvSpPr>
          <p:nvPr userDrawn="1"/>
        </p:nvSpPr>
        <p:spPr>
          <a:xfrm>
            <a:off x="391411" y="640135"/>
            <a:ext cx="11290305" cy="5237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Calibri (Body)"/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49D7A90-F0A3-C216-D67E-9B86D1BECDF5}"/>
              </a:ext>
            </a:extLst>
          </p:cNvPr>
          <p:cNvSpPr txBox="1">
            <a:spLocks/>
          </p:cNvSpPr>
          <p:nvPr userDrawn="1"/>
        </p:nvSpPr>
        <p:spPr>
          <a:xfrm>
            <a:off x="158720" y="413891"/>
            <a:ext cx="10025576" cy="68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3075D7-F006-A81F-68F1-A5F218FAF004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554" y="6358271"/>
            <a:ext cx="964436" cy="411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482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microsoft.com/office/2007/relationships/hdphoto" Target="../media/hdphoto3.wdp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8D30BC0-07A3-DCDA-0D0B-DD40C2178A62}"/>
              </a:ext>
            </a:extLst>
          </p:cNvPr>
          <p:cNvSpPr/>
          <p:nvPr/>
        </p:nvSpPr>
        <p:spPr>
          <a:xfrm>
            <a:off x="-31269" y="29737"/>
            <a:ext cx="12254538" cy="6868389"/>
          </a:xfrm>
          <a:prstGeom prst="rect">
            <a:avLst/>
          </a:prstGeom>
          <a:gradFill>
            <a:gsLst>
              <a:gs pos="0">
                <a:srgbClr val="47BDAF"/>
              </a:gs>
              <a:gs pos="100000">
                <a:srgbClr val="3793A6"/>
              </a:gs>
              <a:gs pos="39000">
                <a:srgbClr val="1C4D98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LT Pro 45 Light" panose="020B0403030504020204" pitchFamily="34" charset="0"/>
              <a:ea typeface="+mn-ea"/>
              <a:cs typeface="+mn-cs"/>
            </a:endParaRP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0741E81D-922F-23FE-07A9-320FA2B27E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89635" y="17705"/>
            <a:ext cx="6910121" cy="1058125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</a:rPr>
              <a:t>M.Tech/MCA Program </a:t>
            </a:r>
          </a:p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</a:rPr>
              <a:t>Advanced Industry Integrated Programs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D19DFA2-C55E-F4D5-C53A-B5ECEB442DC1}"/>
              </a:ext>
            </a:extLst>
          </p:cNvPr>
          <p:cNvCxnSpPr/>
          <p:nvPr/>
        </p:nvCxnSpPr>
        <p:spPr>
          <a:xfrm>
            <a:off x="2977350" y="1120307"/>
            <a:ext cx="5866228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1AA452C-B3E6-7A79-FD46-04E813851A85}"/>
              </a:ext>
            </a:extLst>
          </p:cNvPr>
          <p:cNvSpPr/>
          <p:nvPr/>
        </p:nvSpPr>
        <p:spPr>
          <a:xfrm>
            <a:off x="4125951" y="1177578"/>
            <a:ext cx="3033131" cy="28603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Frutiger 45 bold"/>
                <a:ea typeface="+mn-ea"/>
                <a:cs typeface="Calibri" panose="020F0502020204030204" pitchFamily="34" charset="0"/>
              </a:rPr>
              <a:t>Jointly offered by University and LTIMindTree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8A8852-79FE-2D69-0530-D7712358063B}"/>
              </a:ext>
            </a:extLst>
          </p:cNvPr>
          <p:cNvSpPr txBox="1"/>
          <p:nvPr/>
        </p:nvSpPr>
        <p:spPr>
          <a:xfrm>
            <a:off x="180236" y="1659822"/>
            <a:ext cx="11428184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dirty="0">
                <a:solidFill>
                  <a:prstClr val="white"/>
                </a:solidFill>
                <a:cs typeface="Calibri" panose="020F0502020204030204" pitchFamily="34" charset="0"/>
              </a:rPr>
              <a:t>Review III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b="1" dirty="0">
                <a:solidFill>
                  <a:prstClr val="white"/>
                </a:solidFill>
                <a:cs typeface="Calibri" panose="020F0502020204030204" pitchFamily="34" charset="0"/>
              </a:rPr>
              <a:t>Site Guard AI: Multi-Agent Construction Safety</a:t>
            </a:r>
          </a:p>
          <a:p>
            <a:pPr lvl="0" algn="ctr">
              <a:defRPr/>
            </a:pPr>
            <a:r>
              <a:rPr lang="en-US" sz="3200" b="1" dirty="0">
                <a:solidFill>
                  <a:prstClr val="white"/>
                </a:solidFill>
                <a:cs typeface="Calibri" panose="020F0502020204030204" pitchFamily="34" charset="0"/>
              </a:rPr>
              <a:t>&amp; Quality Incident Resolution System</a:t>
            </a:r>
            <a:endParaRPr lang="en-US" sz="3600" b="1" dirty="0">
              <a:solidFill>
                <a:prstClr val="white"/>
              </a:solidFill>
              <a:cs typeface="Calibri" panose="020F0502020204030204" pitchFamily="34" charset="0"/>
            </a:endParaRPr>
          </a:p>
          <a:p>
            <a:pPr lvl="0" algn="ctr"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  <a:p>
            <a:pPr lvl="0" algn="ctr">
              <a:defRPr/>
            </a:pPr>
            <a:r>
              <a:rPr lang="en-US" sz="2200" b="1" dirty="0">
                <a:solidFill>
                  <a:prstClr val="white"/>
                </a:solidFill>
                <a:cs typeface="Calibri" panose="020F0502020204030204" pitchFamily="34" charset="0"/>
              </a:rPr>
              <a:t>Team Member</a:t>
            </a:r>
          </a:p>
          <a:p>
            <a:pPr algn="ctr">
              <a:defRPr/>
            </a:pPr>
            <a:r>
              <a:rPr lang="en-US" sz="2600" b="1" dirty="0">
                <a:solidFill>
                  <a:prstClr val="white"/>
                </a:solidFill>
                <a:cs typeface="Calibri" panose="020F0502020204030204" pitchFamily="34" charset="0"/>
              </a:rPr>
              <a:t>S.K. Sricharan</a:t>
            </a:r>
          </a:p>
          <a:p>
            <a:pPr algn="ctr">
              <a:defRPr/>
            </a:pPr>
            <a:r>
              <a:rPr lang="en-US" sz="2400" b="1" dirty="0">
                <a:solidFill>
                  <a:prstClr val="white"/>
                </a:solidFill>
                <a:cs typeface="Calibri" panose="020F0502020204030204" pitchFamily="34" charset="0"/>
              </a:rPr>
              <a:t>T-Series ID: T9984</a:t>
            </a:r>
          </a:p>
          <a:p>
            <a:pPr lvl="0" algn="ctr">
              <a:defRPr/>
            </a:pPr>
            <a:endParaRPr lang="en-US" sz="1400" b="1" dirty="0">
              <a:solidFill>
                <a:prstClr val="white"/>
              </a:solidFill>
              <a:latin typeface="Frutiger 45 bold"/>
              <a:cs typeface="Calibri" panose="020F0502020204030204" pitchFamily="34" charset="0"/>
            </a:endParaRPr>
          </a:p>
          <a:p>
            <a:pPr lvl="0" algn="ctr"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E7F5D19-19F4-F87F-17C2-8520612BCFEC}"/>
              </a:ext>
            </a:extLst>
          </p:cNvPr>
          <p:cNvGraphicFramePr>
            <a:graphicFrameLocks noGrp="1"/>
          </p:cNvGraphicFramePr>
          <p:nvPr/>
        </p:nvGraphicFramePr>
        <p:xfrm>
          <a:off x="-47290" y="5501244"/>
          <a:ext cx="12239216" cy="32648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19608">
                  <a:extLst>
                    <a:ext uri="{9D8B030D-6E8A-4147-A177-3AD203B41FA5}">
                      <a16:colId xmlns:a16="http://schemas.microsoft.com/office/drawing/2014/main" val="586572480"/>
                    </a:ext>
                  </a:extLst>
                </a:gridCol>
                <a:gridCol w="6119608">
                  <a:extLst>
                    <a:ext uri="{9D8B030D-6E8A-4147-A177-3AD203B41FA5}">
                      <a16:colId xmlns:a16="http://schemas.microsoft.com/office/drawing/2014/main" val="157907922"/>
                    </a:ext>
                  </a:extLst>
                </a:gridCol>
              </a:tblGrid>
              <a:tr h="15274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Knowledge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                                                                     Implementation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3668230"/>
                  </a:ext>
                </a:extLst>
              </a:tr>
              <a:tr h="1184198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626376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2715C658-0B94-5B63-55F1-B9B6F645F0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5332" y="5852667"/>
            <a:ext cx="1987468" cy="847417"/>
          </a:xfrm>
          <a:prstGeom prst="rect">
            <a:avLst/>
          </a:prstGeom>
        </p:spPr>
      </p:pic>
      <p:pic>
        <p:nvPicPr>
          <p:cNvPr id="9" name="Picture 2" descr="LTIMindtree - Technology Consulting and Digital Solutions Company">
            <a:extLst>
              <a:ext uri="{FF2B5EF4-FFF2-40B4-BE49-F238E27FC236}">
                <a16:creationId xmlns:a16="http://schemas.microsoft.com/office/drawing/2014/main" id="{B3D78849-E5F7-1DB2-227F-1424458612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852667"/>
            <a:ext cx="3886489" cy="864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9507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18EFD-13D1-118F-A8E4-F9E2D3695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B4E3812-AF2F-9DD8-6ECF-C3425146B38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Introduction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295426A-3395-FE92-30C7-C8A6AC62DE62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91B1D4-191E-E882-BD37-9FBAED57B57F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6263640" cy="39319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Construction sites report two kinds of events that must be investigated and closed: </a:t>
            </a:r>
            <a:r>
              <a:rPr sz="1600" b="1">
                <a:solidFill>
                  <a:srgbClr val="1F4E79"/>
                </a:solidFill>
                <a:latin typeface="Calibri"/>
              </a:rPr>
              <a:t>safety incidents</a:t>
            </a:r>
            <a:r>
              <a:rPr sz="1600" b="0">
                <a:solidFill>
                  <a:srgbClr val="1F2937"/>
                </a:solidFill>
                <a:latin typeface="Calibri"/>
              </a:rPr>
              <a:t> (falls, struck-by, excavation collapse, electrical, lifting, plant) and </a:t>
            </a:r>
            <a:r>
              <a:rPr sz="1600" b="1">
                <a:solidFill>
                  <a:srgbClr val="1F4E79"/>
                </a:solidFill>
                <a:latin typeface="Calibri"/>
              </a:rPr>
              <a:t>quality defects</a:t>
            </a:r>
            <a:r>
              <a:rPr sz="1600" b="0">
                <a:solidFill>
                  <a:srgbClr val="1F2937"/>
                </a:solidFill>
                <a:latin typeface="Calibri"/>
              </a:rPr>
              <a:t> (cracking, honeycombing, low cover, tolerance, water ingress).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Site Guard AI</a:t>
            </a:r>
            <a:r>
              <a:rPr sz="1600" b="0">
                <a:solidFill>
                  <a:srgbClr val="1F2937"/>
                </a:solidFill>
                <a:latin typeface="Calibri"/>
              </a:rPr>
              <a:t> is an agentic decision-support and workflow platform: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500" b="0">
                <a:solidFill>
                  <a:srgbClr val="1F2937"/>
                </a:solidFill>
                <a:latin typeface="Calibri"/>
              </a:rPr>
              <a:t>Six bounded AI agents triage and investigate each incident, find root causes, map it to company procedures and propose corrective and preventive actions (CAPA)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500" b="0">
                <a:solidFill>
                  <a:srgbClr val="1F2937"/>
                </a:solidFill>
                <a:latin typeface="Calibri"/>
              </a:rPr>
              <a:t>Every finding cites the procedure it came from; risk is scored by a deterministic 5×5 matrix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500" b="0">
                <a:solidFill>
                  <a:srgbClr val="1F2937"/>
                </a:solidFill>
                <a:latin typeface="Calibri"/>
              </a:rPr>
              <a:t>Qualified people approve, verify and close; the AI never approves, closes or certifies compliance</a:t>
            </a:r>
          </a:p>
        </p:txBody>
      </p:sp>
      <p:pic>
        <p:nvPicPr>
          <p:cNvPr id="7" name="Picture 6" descr="dashboard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371600"/>
            <a:ext cx="4846320" cy="27260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49440" y="4114800"/>
            <a:ext cx="484632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Live Site Guard AI dashboard after resolving every incident (synthetic demo project)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572000"/>
            <a:ext cx="1508760" cy="10972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20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hazard &amp; defect classes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4572000"/>
            <a:ext cx="1508760" cy="10972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6 + 1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AI agents + risk engine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4572000"/>
            <a:ext cx="1508760" cy="10972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9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user roles (RBAC)</a:t>
            </a:r>
          </a:p>
        </p:txBody>
      </p:sp>
    </p:spTree>
    <p:extLst>
      <p:ext uri="{BB962C8B-B14F-4D97-AF65-F5344CB8AC3E}">
        <p14:creationId xmlns:p14="http://schemas.microsoft.com/office/powerpoint/2010/main" val="2088180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1235D-73A1-0B84-0745-6B97432CB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FF40D3-B05A-88C3-591F-882A93FC991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Objectives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740D4D-2363-70E1-0E6E-1BDDA8C33C8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4452DD5-D934-4955-F39B-2109AC72692F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548640" y="1508760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6304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Unified incident capture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Report safety and quality incidents with photos and documents, scoped by organisation and project, with a full lifecycle and audit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4528" y="137160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361688" y="1508760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8888" y="146304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AI-assisted investigation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874519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Triage, safety / quality investigation, 5-Whys root cause and compliance mapping by bounded agents with validated, structured outputs.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7575" y="137160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74736" y="1508760"/>
            <a:ext cx="411480" cy="4114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6" y="1463040"/>
            <a:ext cx="2944367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Grounded in procedures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1874519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Every requirement and answer cites the retrieved company procedure; unsupported claims are removed and injected instructions are flagged.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3756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548640" y="3474720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2900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Deterministic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840480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 5×5 likelihood × consequence matrix computes the risk band; the AI may only suggest the inputs.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24528" y="333756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361688" y="3474720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342900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Human-in-the-loop CAPA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3840480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AI proposes actions; authorised people approve, verify and close. No safety-critical incident is ever closed automatically.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37575" y="333756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174736" y="3474720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3429000"/>
            <a:ext cx="2944367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Measured &amp; deployable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840480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≥ 85% class and ≥ 90% domain accuracy on a held-out set; secure API, CI on every change, Docker image and Azure templates.</a:t>
            </a:r>
          </a:p>
        </p:txBody>
      </p:sp>
    </p:spTree>
    <p:extLst>
      <p:ext uri="{BB962C8B-B14F-4D97-AF65-F5344CB8AC3E}">
        <p14:creationId xmlns:p14="http://schemas.microsoft.com/office/powerpoint/2010/main" val="17394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Modules – System Overview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F77F89-4F98-73F2-FD5A-5DD416A6F12F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5221164-7940-3B34-A613-28A74A63E0F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i="1" dirty="0" sz="130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11480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Incident &amp;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Reporting, lifecycle state machine, evidence files with SHA-256 integrity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3552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273552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Multi-Agent Investigation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Orchestrator with six agents, checkpoints, pause / resume, conflict records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5624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135624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Knowledge &amp; Retrieval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PDF / DOCX upload, chunking, embeddings, hybrid search, grounded answers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97696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997696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Risk &amp; 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7424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5×5 risk matrix, requirement mapping marked “possible gap, needs review”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11480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CAPA Workflow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Approval by role, overdue escalation, independent verification, closure rules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73552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273552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Vision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Photo checks for PPE / hazards / defects in an isolated process; engineer review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35624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135624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Knowledge 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Optional Neo4j projection of incidents, causes and actions with provenance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7696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997696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Reports, Alerts &amp; Audit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7424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Markdown / Word / PDF reports, email outbox, dashboard, full audit trail</a:t>
            </a:r>
          </a:p>
        </p:txBody>
      </p:sp>
    </p:spTree>
    <p:extLst>
      <p:ext uri="{BB962C8B-B14F-4D97-AF65-F5344CB8AC3E}">
        <p14:creationId xmlns:p14="http://schemas.microsoft.com/office/powerpoint/2010/main" val="3377586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Module – Multi-Agent Investigation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F77F89-4F98-73F2-FD5A-5DD416A6F12F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5221164-7940-3B34-A613-28A74A63E0F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i="1" dirty="0" sz="130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676656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Subtopic: six bounded agents and a deterministic engine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3736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Triage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73736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Class (20-class taxonomy), domain SAFETY / QUALITY / BOTH, severity, priority, missing info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28600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Safety investigation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28600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Unsafe acts, unsafe conditions, failed or missing controls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834639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investigation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834639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Defect, nonconformance and the inspection / test points that missed 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383279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 engine (no AI)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383279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Likelihood × consequence on a 5×5 matrix → band; uses the higher of the two views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93192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Root cause (RCA)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393192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5-Whys across people, process, equipment, materials, environment, management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48056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48056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Maps facts to retrieved procedure clauses: likely not met / unclear – never certifies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02920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CAPA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502920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Corrective and preventive actions with owner, due date and verification criterion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79" y="1325880"/>
            <a:ext cx="4297680" cy="452628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680960" y="1417320"/>
            <a:ext cx="3931920" cy="43891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C9A3C"/>
                </a:solidFill>
                <a:latin typeface="Calibri"/>
              </a:rPr>
              <a:t>Guardrails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Explicit tool allowlist and call budget per agent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Outputs validated against Pydantic schemas; invalid output falls back to rules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Cites only evidence retrieved in the same run; unknown citations removed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Documents and uploads treated as untrusted data; injection attempts flagged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Disagreements stored as conflicts for a person to decide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1">
                <a:solidFill>
                  <a:srgbClr val="1F2937"/>
                </a:solidFill>
                <a:latin typeface="Calibri"/>
              </a:rPr>
              <a:t>Agents never approve, verify or close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Providers: deterministic rules (offline, default) or Claude (optional)</a:t>
            </a:r>
          </a:p>
        </p:txBody>
      </p:sp>
    </p:spTree>
    <p:extLst>
      <p:ext uri="{BB962C8B-B14F-4D97-AF65-F5344CB8AC3E}">
        <p14:creationId xmlns:p14="http://schemas.microsoft.com/office/powerpoint/2010/main" val="3377586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2D7CD-C158-6FC1-06C7-09444D2DE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B15F4B8-EED0-F7BE-96C7-D7AAE989A2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Problem Statement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A882B44-FCE4-BF93-E951-46CF2238FB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CE164B1-01DD-BF3B-88E8-DF2DEDBFA9EB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4754880" cy="3749039"/>
          </a:xfrm>
          <a:prstGeom prst="roundRect">
            <a:avLst>
              <a:gd name="adj" fmla="val 8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BFDBFE"/>
                </a:solidFill>
                <a:latin typeface="Calibri"/>
              </a:rPr>
              <a:t>Problem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Construction organisations lack a single, trustworthy system that turns a reported safety or quality incident into an evidence-backed investigation, proportionate corrective actions and verified closure – quickly, consistently and with a complete audit trail.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40680" y="1325880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5577840" y="1463039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417320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Fragmented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805940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Reports, photos, procedures, NCRs and action logs live in different tools and inboxes.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441448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5577840" y="2578608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532888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Slow, inconsistent investigations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921508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Root causes and actions depend on who investigates; procedures are not cited.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557015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5577840" y="3694176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648456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Weak follow-through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4037076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Overdue actions and unverified closures go unnoticed until the next incident.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40680" y="4672584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5577840" y="4809744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4764024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Unsafe automation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5152644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Generic AI can hallucinate, follow injected instructions or “close” an incident – unacceptable for safety.</a:t>
            </a:r>
          </a:p>
        </p:txBody>
      </p:sp>
    </p:spTree>
    <p:extLst>
      <p:ext uri="{BB962C8B-B14F-4D97-AF65-F5344CB8AC3E}">
        <p14:creationId xmlns:p14="http://schemas.microsoft.com/office/powerpoint/2010/main" val="2034681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3BE5C-251C-23E3-8F19-EE2DB300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ABB59C-76FD-5246-4EEE-72212BF64AE4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Methodology – System Architecture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4BC82A4-B382-2A00-3070-17B2B47F169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E73589-106E-E0B7-D90D-C7E75D0CB2B6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98448"/>
            <a:ext cx="8778240" cy="50292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84632" y="1298448"/>
            <a:ext cx="1188720" cy="50292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Users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1640" y="1362456"/>
            <a:ext cx="7406640" cy="374904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HSE manager · Safety &amp; QA/QC engineers · Site engineer · Project manager · Auditor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38528"/>
            <a:ext cx="8778240" cy="59436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4632" y="1938528"/>
            <a:ext cx="1188720" cy="59436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Access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1640" y="2002536"/>
            <a:ext cx="3566160" cy="466344"/>
          </a:xfrm>
          <a:prstGeom prst="roundRect">
            <a:avLst>
              <a:gd name="adj" fmla="val 12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Web app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Next.js · TypeScript · Tailwind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2120" y="2002536"/>
            <a:ext cx="3566160" cy="466344"/>
          </a:xfrm>
          <a:prstGeom prst="roundRect">
            <a:avLst>
              <a:gd name="adj" fmla="val 12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FastAPI REST API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JWT · RBAC · tenant scoping · rate limits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670048"/>
            <a:ext cx="8778240" cy="68580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84632" y="2670048"/>
            <a:ext cx="1188720" cy="6858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Services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Incidents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lifecycle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91256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Evidence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files · vision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90872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CAPA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escalation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Reports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MD · Word · PDF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90104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Audit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notifications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493008"/>
            <a:ext cx="8778240" cy="91440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84632" y="3493008"/>
            <a:ext cx="11887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AI layer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91640" y="3566160"/>
            <a:ext cx="1463040" cy="768096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Orchestrator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checkpoints · pause / resume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3566160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Triage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5968" y="3566160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Safety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40096" y="3566160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Quality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968496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RCA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3968496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Compliance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40096" y="3968496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CAPA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566160"/>
            <a:ext cx="1325880" cy="768096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Risk engine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5×5 matrix (no AI)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18120" y="3566160"/>
            <a:ext cx="1280160" cy="768096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Human gate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approve · verify · close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4544568"/>
            <a:ext cx="8778240" cy="68580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84632" y="4544568"/>
            <a:ext cx="1188720" cy="6858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Data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91640" y="4608576"/>
            <a:ext cx="15544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PostgreSQL 16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system of record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37560" y="4608576"/>
            <a:ext cx="15544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pgvector + BM25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hybrid RAG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83480" y="4608576"/>
            <a:ext cx="128016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Neo4j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knowledge graph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55080" y="4608576"/>
            <a:ext cx="13258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Evidence store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SHA-256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0" y="4608576"/>
            <a:ext cx="13258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LLM provider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rules / Claude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94960" y="180136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394960" y="253288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394960" y="335584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394960" y="440740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418320" y="1298448"/>
            <a:ext cx="2377440" cy="393192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491472" y="1371600"/>
            <a:ext cx="2240280" cy="38404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C9A3C"/>
                </a:solidFill>
                <a:latin typeface="Calibri"/>
              </a:rPr>
              <a:t>Platform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One Docker image: API + web app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Alembic migrations on start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GitHub Actions: 7 CI jobs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Azure Bicep: Container Apps, PostgreSQL, Key Vault, Files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Security headers, CSP, login throttle, upload checks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Structured logs with correlation IDs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B5563"/>
                </a:solidFill>
                <a:latin typeface="Calibri"/>
              </a:rPr>
              <a:t>Request path: user → web app → API (authorisation enforced server-side) → services → agents → data. The browser never decides access.</a:t>
            </a:r>
          </a:p>
        </p:txBody>
      </p:sp>
    </p:spTree>
    <p:extLst>
      <p:ext uri="{BB962C8B-B14F-4D97-AF65-F5344CB8AC3E}">
        <p14:creationId xmlns:p14="http://schemas.microsoft.com/office/powerpoint/2010/main" val="2015818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3BE5C-251C-23E3-8F19-EE2DB300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ABB59C-76FD-5246-4EEE-72212BF64AE4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Methodology – Incident Resolution Workflow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4BC82A4-B382-2A00-3070-17B2B47F169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E73589-106E-E0B7-D90D-C7E75D0CB2B6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Report incident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+ photos, documents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59152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Triage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class · domain · severity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12264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306824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Safety / Quality agents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acts · conditions · controls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59936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54496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 matrix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5×5 → band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07608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02167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RCA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5-Whys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55279" y="1874519"/>
            <a:ext cx="219457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149839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Compliance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cited clauses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902951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149839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CAPA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corrective &amp; preventive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02167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Human review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approve / modify / reject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9902951" y="3337560"/>
            <a:ext cx="219457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254495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Action work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owners · due dates · escalation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7955279" y="3337560"/>
            <a:ext cx="219457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306823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Verification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independent person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6007607" y="3337560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2359151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Closure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authorised role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059935" y="3337560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986515" y="2359152"/>
            <a:ext cx="0" cy="493776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11480" y="2926080"/>
            <a:ext cx="1673352" cy="82296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B5563"/>
                </a:solidFill>
                <a:latin typeface="Calibri"/>
              </a:rPr>
              <a:t>Checkpointed after every stage: pause, resume or cancel; crashed runs resume without repeating work.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402336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  <a:latin typeface="Calibri"/>
              </a:rPr>
              <a:t>Incident status (enforced by the API)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94560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Reported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3048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Under investigation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630168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431536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Pending approval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248655" y="4617720"/>
            <a:ext cx="164593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050024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Action in progress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867144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668512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Pending verification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485632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0287000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DF6EA"/>
          </a:solidFill>
          <a:ln w="15875">
            <a:solidFill>
              <a:srgbClr val="4C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4C9A3C"/>
                </a:solidFill>
                <a:latin typeface="Calibri"/>
              </a:rPr>
              <a:t>Closed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104120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194560" y="4983480"/>
            <a:ext cx="9601200" cy="68580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Critical actions need the HSE manager; an assignee cannot verify their own action; an incident closes only from Pending verification and only when every AI conflict has a recorded human decision.</a:t>
            </a:r>
          </a:p>
        </p:txBody>
      </p:sp>
    </p:spTree>
    <p:extLst>
      <p:ext uri="{BB962C8B-B14F-4D97-AF65-F5344CB8AC3E}">
        <p14:creationId xmlns:p14="http://schemas.microsoft.com/office/powerpoint/2010/main" val="2015818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3BE5C-251C-23E3-8F19-EE2DB300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ABB59C-76FD-5246-4EEE-72212BF64AE4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Methodology – Development &amp; Evaluation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4BC82A4-B382-2A00-3070-17B2B47F169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E73589-106E-E0B7-D90D-C7E75D0CB2B6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566928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E75B6"/>
                </a:solidFill>
                <a:latin typeface="Calibri"/>
              </a:rPr>
              <a:t>Staged delivery, every change through 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45920"/>
            <a:ext cx="566928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B5563"/>
                </a:solidFill>
                <a:latin typeface="Calibri"/>
              </a:rPr>
              <a:t>READ → INSPECT → PLAN → IMPLEMENT → TEST → REVIEW → DOCUMENT → COMMIT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057400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39112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Hardening, Azure IaC, staging, backup / restore, smoke test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587752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569464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Document parsing, embeddings, hybrid retrieval, grounded answers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118104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099816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Word / PDF investigation reports, email outbox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411480" cy="4114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30168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Vision analysis, knowledge graph, resumable workflows, conflicts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178808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60520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Web screens for every feature, browser tests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709160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690872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Accuracy round, load testing, concurrency fix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1280160"/>
            <a:ext cx="5440680" cy="434340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37960" y="1371600"/>
            <a:ext cx="5120640" cy="4114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  <a:latin typeface="Calibri"/>
              </a:rPr>
              <a:t>Honest evaluation protocol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1920239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1828799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Freeze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A separate author writes 46 held-out cases; committed before any tuning</a:t>
            </a:r>
          </a:p>
        </p:txBody>
      </p:sp>
      <p:sp>
        <p:nvSpPr>
          <p:cNvPr id="24" name="Oval 23"/>
          <p:cNvSpPr/>
          <p:nvPr/>
        </p:nvSpPr>
        <p:spPr>
          <a:xfrm>
            <a:off x="6537960" y="2834639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2743200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Tune on dev only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Rules and procedures improved using 120 dev cases; held-out never opened</a:t>
            </a:r>
          </a:p>
        </p:txBody>
      </p:sp>
      <p:sp>
        <p:nvSpPr>
          <p:cNvPr id="26" name="Oval 25"/>
          <p:cNvSpPr/>
          <p:nvPr/>
        </p:nvSpPr>
        <p:spPr>
          <a:xfrm>
            <a:off x="6537960" y="3749039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657600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Measure once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Held-out scored once on the frozen rules and published as is</a:t>
            </a:r>
          </a:p>
        </p:txBody>
      </p:sp>
      <p:sp>
        <p:nvSpPr>
          <p:cNvPr id="28" name="Oval 27"/>
          <p:cNvSpPr/>
          <p:nvPr/>
        </p:nvSpPr>
        <p:spPr>
          <a:xfrm>
            <a:off x="6537960" y="4663440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572000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Gate in CI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Floors just under the results, 0 CRITICAL under-rated, 10/10 red-team</a:t>
            </a:r>
          </a:p>
        </p:txBody>
      </p:sp>
    </p:spTree>
    <p:extLst>
      <p:ext uri="{BB962C8B-B14F-4D97-AF65-F5344CB8AC3E}">
        <p14:creationId xmlns:p14="http://schemas.microsoft.com/office/powerpoint/2010/main" val="2015818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7B675-E694-7663-D55C-2461C40B8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243BDD-B44E-04F0-FA93-336DD2FFA770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Approach, Algorithms &amp; Tools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4963133-FFA1-7CF4-9FAD-E6A120EF4238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EA3EC9D-D5AF-E54C-A3D0-5E42F32DC03B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61872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548640" y="1399031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5331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Weighted keyword triage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41931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20-class taxonomy; title words ×2, ambiguous words ×0.5; falling-object, fall and struck-by patterns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548640" y="2450591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0487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Hybrid retrieval (RAG)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793491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BM25 + vector search fused by Reciprocal Rank Fusion, then a deterministic rerank on coverage, headings and phrases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364991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548640" y="3502151"/>
            <a:ext cx="411480" cy="4114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45643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Deterministic risk scoring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845052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Likelihood (1–5) × consequence (1–5) → LOW / MEDIUM / HIGH / CRITICAL; the AI only suggests inputs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416552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548640" y="4553712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50799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Root cause &amp; grounding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896612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5-Whys over six cause categories; answers keep only claims supported by cited chunks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280160"/>
            <a:ext cx="457200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  <a:latin typeface="Calibri"/>
              </a:rPr>
              <a:t>Tools &amp; technologies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8040" y="173736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Python 3.12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23376" y="173736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FastAPI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68712" y="173736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Pydantic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78040" y="2340864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SQLAlchemy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23376" y="2340864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Alembic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68712" y="2340864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PostgreSQL 16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78040" y="2944368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pgvector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23376" y="2944368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Neo4j 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68712" y="2944368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Next.js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78040" y="3547872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TypeScript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23376" y="3547872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Tailwind CSS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68712" y="3547872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Docker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78040" y="4151376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GitHub Actions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723376" y="4151376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Azure Bicep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268712" y="4151376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pytest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78040" y="475488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Playwright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23376" y="475488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ruff · mypy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68712" y="475488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Claude (optional)</a:t>
            </a:r>
          </a:p>
        </p:txBody>
      </p:sp>
    </p:spTree>
    <p:extLst>
      <p:ext uri="{BB962C8B-B14F-4D97-AF65-F5344CB8AC3E}">
        <p14:creationId xmlns:p14="http://schemas.microsoft.com/office/powerpoint/2010/main" val="107944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AI Accuracy on Held-out Data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280160"/>
          <a:ext cx="758952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75320" y="1325880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0" y="1325880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4C9A3C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1325880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CRITICAL incidents rated LOW or MEDIUM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2350008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80" y="2350008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4C9A3C"/>
                </a:solidFill>
                <a:latin typeface="Calibri"/>
              </a:rPr>
              <a:t>10 /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2350008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red-team attacks contained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3374136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80" y="3374136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4C9A3C"/>
                </a:solidFill>
                <a:latin typeface="Calibri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20" y="3374136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workflow invariants held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20" y="4398264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12480" y="4398264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166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20" y="4398264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labelled cases: 120 dev + 46 held-out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All four accuracy targets met; class +21.7 points and retrieval +26.1 points after tuning.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End-to-End Incident Resolution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4572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05840"/>
                <a:gridCol w="1005840"/>
              </a:tblGrid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Incidents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Open incidents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Actions awaiting review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Actions overdue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Mean days to close*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6.1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11480" y="4160520"/>
            <a:ext cx="1463040" cy="105156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4C9A3C"/>
                </a:solidFill>
                <a:latin typeface="Calibri"/>
              </a:rPr>
              <a:t>107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agent runs, 0 failures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65960" y="4160520"/>
            <a:ext cx="1463040" cy="105156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4C9A3C"/>
                </a:solidFill>
                <a:latin typeface="Calibri"/>
              </a:rPr>
              <a:t>79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human decisions: 64 approved, 15 rejected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4160520"/>
            <a:ext cx="1463040" cy="105156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4C9A3C"/>
                </a:solidFill>
                <a:latin typeface="Calibri"/>
              </a:rPr>
              <a:t>21 / 21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incidents closed after verification</a:t>
            </a:r>
          </a:p>
        </p:txBody>
      </p:sp>
      <p:pic>
        <p:nvPicPr>
          <p:cNvPr id="10" name="Picture 9" descr="dashboard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325880"/>
            <a:ext cx="6492240" cy="36518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0" y="5029200"/>
            <a:ext cx="6492240" cy="5486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Dashboard after the run: 21 incidents closed, 0 open, 0 overdue. *Scripted reviewers act within minutes, so days-to-close is a workflow check, not a performance figure.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The Product: Investigation to Closure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pic>
        <p:nvPicPr>
          <p:cNvPr id="6" name="Picture 5" descr="s_worksp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280160"/>
            <a:ext cx="5120640" cy="360045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898898"/>
            <a:ext cx="512064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AI investigation of a new report: triage, safety findings, 5×5 risk, root causes, all marked AI-generated</a:t>
            </a:r>
          </a:p>
        </p:txBody>
      </p:sp>
      <p:pic>
        <p:nvPicPr>
          <p:cNvPr id="8" name="Picture 7" descr="s_que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280160"/>
            <a:ext cx="6035040" cy="1555909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760720" y="2854356"/>
            <a:ext cx="603504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Action queue: every AI-proposed action waits for a person; critical ones only for the HSE manager</a:t>
            </a:r>
          </a:p>
        </p:txBody>
      </p:sp>
      <p:pic>
        <p:nvPicPr>
          <p:cNvPr id="10" name="Picture 9" descr="s_clos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3201828"/>
            <a:ext cx="6035040" cy="2074545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760720" y="5294661"/>
            <a:ext cx="603504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The same incident closed, only after each approved action was verified effective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The Product: Knowledge, Photos &amp; Audit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pic>
        <p:nvPicPr>
          <p:cNvPr id="6" name="Picture 5" descr="s_ans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280160"/>
            <a:ext cx="5715000" cy="1674316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2972764"/>
            <a:ext cx="571500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Grounded answer: each statement cites its source passage, or says the documents do not answer</a:t>
            </a:r>
          </a:p>
        </p:txBody>
      </p:sp>
      <p:pic>
        <p:nvPicPr>
          <p:cNvPr id="8" name="Picture 7" descr="s_aud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338524"/>
            <a:ext cx="5715000" cy="1875234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11480" y="5232046"/>
            <a:ext cx="571500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Audit trail: every human and agent action with a correlation ID</a:t>
            </a:r>
          </a:p>
        </p:txBody>
      </p:sp>
      <p:pic>
        <p:nvPicPr>
          <p:cNvPr id="10" name="Picture 9" descr="s_phot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280160"/>
            <a:ext cx="5440680" cy="210413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355080" y="3402578"/>
            <a:ext cx="544068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Photo review: image checks for an engineer to confirm; never proof on their own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3786626"/>
            <a:ext cx="5440680" cy="1471173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What the screens show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AI output is always labelled and never approves, verifies or closes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Answers and requirements cite retrieved passages only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Role checks happen in the API; the browser only renders what it is allowed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Performance &amp; Engineering Quality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67665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914400"/>
                <a:gridCol w="822960"/>
                <a:gridCol w="91440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Load test run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Users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Req/s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Errors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Read p95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Single user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28 ms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Saturation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745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Realistic mix (2 s think time)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100 + 2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802 ms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8 concurrent reporters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 + 8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718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11480" y="3794760"/>
            <a:ext cx="6766560" cy="132588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6492240" cy="12801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C9A3C"/>
                </a:solidFill>
                <a:latin typeface="Calibri"/>
              </a:rPr>
              <a:t>Bug found and fixed by the load test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Two reports submitted at the same moment received the same reference and one failed (HTTP 500). Fixed with a PostgreSQL advisory lock plus a retry; 113 simultaneous reports later, no collision.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325880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89520" y="1325880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268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325880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backend tests (unit, API, migrations, evaluation, red-team)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2304288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20" y="2304288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304288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browser end-to-end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52360" y="3282696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589520" y="3282696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282696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CI jobs green on every pull request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4261104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589520" y="4261104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261104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open dependency-audit findings (Python + npm)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One process serves ≈ 55 req/s – enough for a pilot with tens of active users; the dashboard is the first thing to optimise before scaling.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5BBC5-46B5-0DF4-A2AC-5289D2957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BEA9949-295E-B2C7-8E3A-639B0AD48F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3200" b="1" dirty="0">
                <a:solidFill>
                  <a:srgbClr val="5B9BD5">
                    <a:lumMod val="50000"/>
                  </a:srgbClr>
                </a:solidFill>
              </a:rPr>
              <a:t>Conclusion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3477A6-BED1-8211-5527-9030F1E86940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B5AC1E1-8B68-1019-1B7A-0CF7BDC8B3EC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566928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C9A3C"/>
                </a:solidFill>
                <a:latin typeface="Calibri"/>
              </a:rPr>
              <a:t>Achieved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91640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530352" y="1874520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691640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End-to-end platform: report → AI investigation → human approval → verified closure, with a full audit trail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587752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530352" y="2770632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87752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Six bounded agents plus a deterministic risk engine; outputs validated, cited and never self-approving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483864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530352" y="3666744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483864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Accuracy targets met on held-out data: class 89%, domain 93%, retrieval 93%, 0 critical under-rated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4379976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30352" y="4562856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379976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Production engineering: secure API, 7-job CI, Docker image, Azure templates, load-tested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280160"/>
            <a:ext cx="544068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4E79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1691640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92240" y="1691640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Real data: </a:t>
            </a:r>
            <a:r>
              <a:rPr sz="1300" b="0">
                <a:solidFill>
                  <a:srgbClr val="1F2937"/>
                </a:solidFill>
                <a:latin typeface="Calibri"/>
              </a:rPr>
              <a:t>Expert-labelled pilot reports; real OSHA Severe Injury Reports scoring (pipeline ready)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2587752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92240" y="2587752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Claude provider: </a:t>
            </a:r>
            <a:r>
              <a:rPr sz="1300" b="0">
                <a:solidFill>
                  <a:srgbClr val="1F2937"/>
                </a:solidFill>
                <a:latin typeface="Calibri"/>
              </a:rPr>
              <a:t>Score the LLM provider on the same held-out protocol with an API key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3483864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92240" y="3483864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Scale: </a:t>
            </a:r>
            <a:r>
              <a:rPr sz="1300" b="0">
                <a:solidFill>
                  <a:srgbClr val="1F2937"/>
                </a:solidFill>
                <a:latin typeface="Calibri"/>
              </a:rPr>
              <a:t>SQL aggregates and pagination for the dashboard; shared login throttle before scaling out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4379976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92240" y="4379976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Deploy &amp; extend: </a:t>
            </a:r>
            <a:r>
              <a:rPr sz="1300" b="0">
                <a:solidFill>
                  <a:srgbClr val="1F2937"/>
                </a:solidFill>
                <a:latin typeface="Calibri"/>
              </a:rPr>
              <a:t>Azure staging; licensed vision model; graph-aware retrieval; OIDC sign-in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Site Guard AI is decision support: people stay accountable for every safety decision, and the system never certifies legal compliance.</a:t>
            </a:r>
          </a:p>
        </p:txBody>
      </p:sp>
    </p:spTree>
    <p:extLst>
      <p:ext uri="{BB962C8B-B14F-4D97-AF65-F5344CB8AC3E}">
        <p14:creationId xmlns:p14="http://schemas.microsoft.com/office/powerpoint/2010/main" val="2198371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56F40-96CC-DEF8-9EB7-145237237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DDE408-8E1E-6FA2-7CC4-7953936B171B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3200" b="1" dirty="0" err="1">
                <a:solidFill>
                  <a:srgbClr val="5B9BD5">
                    <a:lumMod val="50000"/>
                  </a:srgbClr>
                </a:solidFill>
              </a:rPr>
              <a:t>Acknowledgement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1AC8EE7-5ED3-D96C-9268-8B7B9A5D057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06C5A91-6D8B-7A46-6BA9-7AF0BB8742E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1554480"/>
            <a:ext cx="8869680" cy="3291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 bIns="320040"/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I sincerely thank the University and LTIMindtree for the Advanced Industry Integrated M.Tech / MCA Program, and L&amp;T EduTech as implementation partner, for the opportunity and guidance to carry out this project.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I am grateful to my project guide, mentors and reviewers for their valuable feedback across the reviews, and to my family and peers for their constant support.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F4E79"/>
                </a:solidFill>
                <a:latin typeface="Calibri"/>
              </a:rPr>
              <a:t>– S.K. Sricharan (T9984)</a:t>
            </a:r>
          </a:p>
        </p:txBody>
      </p:sp>
    </p:spTree>
    <p:extLst>
      <p:ext uri="{BB962C8B-B14F-4D97-AF65-F5344CB8AC3E}">
        <p14:creationId xmlns:p14="http://schemas.microsoft.com/office/powerpoint/2010/main" val="15734889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C1BA9-EED8-0553-15DB-7AC5ADC07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76CD0F3-77A2-E482-9F59-462941CA9EF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3200" b="1" dirty="0">
                <a:solidFill>
                  <a:srgbClr val="5B9BD5">
                    <a:lumMod val="50000"/>
                  </a:srgbClr>
                </a:solidFill>
              </a:rPr>
              <a:t>References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EF328B9-B5B2-A4C8-C436-49616B481A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9E96C34-B06E-814D-72EC-EF1F6BBFAAF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11384280" cy="40233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[1]  </a:t>
            </a:r>
            <a:r>
              <a:rPr sz="1500" b="0">
                <a:solidFill>
                  <a:srgbClr val="1F2937"/>
                </a:solidFill>
                <a:latin typeface="Calibri"/>
              </a:rPr>
              <a:t>U.S. OSHA, 29 CFR Part 1926 – Safety and Health Regulations for Construction (Subparts E, K, L, M, P, CC).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[2]  </a:t>
            </a:r>
            <a:r>
              <a:rPr sz="1500" b="0">
                <a:solidFill>
                  <a:srgbClr val="1F2937"/>
                </a:solidFill>
                <a:latin typeface="Calibri"/>
              </a:rPr>
              <a:t>U.S. OSHA, Severe Injury Reports dataset, https://www.osha.gov/severeinjury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[3]  </a:t>
            </a:r>
            <a:r>
              <a:rPr sz="1500" b="0">
                <a:solidFill>
                  <a:srgbClr val="1F2937"/>
                </a:solidFill>
                <a:latin typeface="Calibri"/>
              </a:rPr>
              <a:t>UK: The Work at Height Regulations 2005; CDM Regulations 2015; LOLER 1998; RIDDOR 2013.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[4]  </a:t>
            </a:r>
            <a:r>
              <a:rPr sz="1500" b="0">
                <a:solidFill>
                  <a:srgbClr val="1F2937"/>
                </a:solidFill>
                <a:latin typeface="Calibri"/>
              </a:rPr>
              <a:t>India: Building and Other Construction Workers Act 1996; OSH and Working Conditions Code 2020.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[5]  </a:t>
            </a:r>
            <a:r>
              <a:rPr sz="1500" b="0">
                <a:solidFill>
                  <a:srgbClr val="1F2937"/>
                </a:solidFill>
                <a:latin typeface="Calibri"/>
              </a:rPr>
              <a:t>ISO 45001:2018, Occupational health and safety management systems – Requirements.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[6]  </a:t>
            </a:r>
            <a:r>
              <a:rPr sz="1500" b="0">
                <a:solidFill>
                  <a:srgbClr val="1F2937"/>
                </a:solidFill>
                <a:latin typeface="Calibri"/>
              </a:rPr>
              <a:t>S. Robertson and H. Zaragoza, “The Probabilistic Relevance Framework: BM25 and Beyond,” Foundations and Trends in Information Retrieval, 2009.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[7]  </a:t>
            </a:r>
            <a:r>
              <a:rPr sz="1500" b="0">
                <a:solidFill>
                  <a:srgbClr val="1F2937"/>
                </a:solidFill>
                <a:latin typeface="Calibri"/>
              </a:rPr>
              <a:t>G. V. Cormack, C. L. A. Clarke and S. Büttcher, “Reciprocal Rank Fusion outperforms Condorcet and individual rank learning methods,” SIGIR 2009.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[8]  </a:t>
            </a:r>
            <a:r>
              <a:rPr sz="1500" b="0">
                <a:solidFill>
                  <a:srgbClr val="1F2937"/>
                </a:solidFill>
                <a:latin typeface="Calibri"/>
              </a:rPr>
              <a:t>P. Lewis et al., “Retrieval-Augmented Generation for Knowledge-Intensive NLP Tasks,” NeurIPS 2020.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[9]  </a:t>
            </a:r>
            <a:r>
              <a:rPr sz="1500" b="0">
                <a:solidFill>
                  <a:srgbClr val="1F2937"/>
                </a:solidFill>
                <a:latin typeface="Calibri"/>
              </a:rPr>
              <a:t>OWASP, Top 10 for Large Language Model Applications (prompt injection, insecure output handling).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[10]  </a:t>
            </a:r>
            <a:r>
              <a:rPr sz="1500" b="0">
                <a:solidFill>
                  <a:srgbClr val="1F2937"/>
                </a:solidFill>
                <a:latin typeface="Calibri"/>
              </a:rPr>
              <a:t>Documentation: FastAPI, SQLAlchemy, PostgreSQL / pgvector, Neo4j, Next.js, Playwright, Anthropic Claude API.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[11]  </a:t>
            </a:r>
            <a:r>
              <a:rPr sz="1500" b="0">
                <a:solidFill>
                  <a:srgbClr val="1F2937"/>
                </a:solidFill>
                <a:latin typeface="Calibri"/>
              </a:rPr>
              <a:t>Project repository: github.com/sricharansk/SITEGUARD-AI (docs/EVALUATION.md, docs/LOAD_TEST.md, docs/RESULTS.md).</a:t>
            </a:r>
          </a:p>
        </p:txBody>
      </p:sp>
    </p:spTree>
    <p:extLst>
      <p:ext uri="{BB962C8B-B14F-4D97-AF65-F5344CB8AC3E}">
        <p14:creationId xmlns:p14="http://schemas.microsoft.com/office/powerpoint/2010/main" val="16598901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</TotalTime>
  <Words>205</Words>
  <Application>Microsoft Office PowerPoint</Application>
  <PresentationFormat>Widescreen</PresentationFormat>
  <Paragraphs>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Calibri</vt:lpstr>
      <vt:lpstr>Calibri (Body)</vt:lpstr>
      <vt:lpstr>Calibri Light</vt:lpstr>
      <vt:lpstr>Frutiger 45 bold</vt:lpstr>
      <vt:lpstr>Frutiger LT Pro 45 Light</vt:lpstr>
      <vt:lpstr>source-serif-pro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HARI PRASATH</dc:creator>
  <cp:lastModifiedBy>HARI PRASATH</cp:lastModifiedBy>
  <cp:revision>14</cp:revision>
  <dcterms:created xsi:type="dcterms:W3CDTF">2024-05-13T10:33:11Z</dcterms:created>
  <dcterms:modified xsi:type="dcterms:W3CDTF">2025-10-06T09:41:15Z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c52bb50-aef2-4dc8-bb7f-e0da22648362_Enabled">
    <vt:lpwstr>true</vt:lpwstr>
  </property>
  <property fmtid="{D5CDD505-2E9C-101B-9397-08002B2CF9AE}" pid="3" name="MSIP_Label_ac52bb50-aef2-4dc8-bb7f-e0da22648362_SetDate">
    <vt:lpwstr>2025-08-25T08:11:33Z</vt:lpwstr>
  </property>
  <property fmtid="{D5CDD505-2E9C-101B-9397-08002B2CF9AE}" pid="4" name="MSIP_Label_ac52bb50-aef2-4dc8-bb7f-e0da22648362_Method">
    <vt:lpwstr>Standard</vt:lpwstr>
  </property>
  <property fmtid="{D5CDD505-2E9C-101B-9397-08002B2CF9AE}" pid="5" name="MSIP_Label_ac52bb50-aef2-4dc8-bb7f-e0da22648362_Name">
    <vt:lpwstr>ac52bb50-aef2-4dc8-bb7f-e0da22648362</vt:lpwstr>
  </property>
  <property fmtid="{D5CDD505-2E9C-101B-9397-08002B2CF9AE}" pid="6" name="MSIP_Label_ac52bb50-aef2-4dc8-bb7f-e0da22648362_SiteId">
    <vt:lpwstr>264b9899-fe1b-430b-9509-2154878d5774</vt:lpwstr>
  </property>
  <property fmtid="{D5CDD505-2E9C-101B-9397-08002B2CF9AE}" pid="7" name="MSIP_Label_ac52bb50-aef2-4dc8-bb7f-e0da22648362_ActionId">
    <vt:lpwstr>5a5317b9-6049-4f38-9ea6-5786aca62bc4</vt:lpwstr>
  </property>
  <property fmtid="{D5CDD505-2E9C-101B-9397-08002B2CF9AE}" pid="8" name="MSIP_Label_ac52bb50-aef2-4dc8-bb7f-e0da22648362_ContentBits">
    <vt:lpwstr>2</vt:lpwstr>
  </property>
  <property fmtid="{D5CDD505-2E9C-101B-9397-08002B2CF9AE}" pid="9" name="MSIP_Label_ac52bb50-aef2-4dc8-bb7f-e0da22648362_Tag">
    <vt:lpwstr>10, 3, 0, 1</vt:lpwstr>
  </property>
  <property fmtid="{D5CDD505-2E9C-101B-9397-08002B2CF9AE}" pid="10" name="ClassificationContentMarkingFooterLocations">
    <vt:lpwstr>1_Office Theme:8</vt:lpwstr>
  </property>
  <property fmtid="{D5CDD505-2E9C-101B-9397-08002B2CF9AE}" pid="11" name="ClassificationContentMarkingFooterText">
    <vt:lpwstr>Sensitivity: LNT Construction Internal Use</vt:lpwstr>
  </property>
</Properties>
</file>