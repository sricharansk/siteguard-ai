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87" r:id="rId5"/>
    <p:sldId id="2147470504" r:id="rId17"/>
    <p:sldId id="2147470494" r:id="rId6"/>
    <p:sldId id="2147470501" r:id="rId7"/>
    <p:sldId id="2147470506" r:id="rId19"/>
    <p:sldId id="2147470505" r:id="rId18"/>
    <p:sldId id="2147470498" r:id="rId8"/>
    <p:sldId id="2147470497" r:id="rId9"/>
    <p:sldId id="2147470508" r:id="rId21"/>
    <p:sldId id="2147470507" r:id="rId20"/>
    <p:sldId id="2147470499" r:id="rId10"/>
    <p:sldId id="2147470502" r:id="rId11"/>
    <p:sldId id="214747050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13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tuning</c:v>
                </c:pt>
              </c:strCache>
            </c:strRef>
          </c:tx>
          <c:spPr>
            <a:solidFill>
              <a:srgbClr val="9DB7D5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67.4</c:v>
                </c:pt>
                <c:pt idx="1">
                  <c:v>80.4</c:v>
                </c:pt>
                <c:pt idx="2">
                  <c:v>95.5</c:v>
                </c:pt>
                <c:pt idx="3">
                  <c:v>67.4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tuning</c:v>
                </c:pt>
              </c:strCache>
            </c:strRef>
          </c:tx>
          <c:spPr>
            <a:solidFill>
              <a:srgbClr val="1F4E79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89.1</c:v>
                </c:pt>
                <c:pt idx="1">
                  <c:v>93.5</c:v>
                </c:pt>
                <c:pt idx="2">
                  <c:v>97.7</c:v>
                </c:pt>
                <c:pt idx="3">
                  <c:v>93.5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4C9A3C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85</c:v>
                </c:pt>
                <c:pt idx="1">
                  <c:v>90</c:v>
                </c:pt>
                <c:pt idx="2">
                  <c:v>90</c:v>
                </c:pt>
                <c:pt idx="3">
                  <c:v>85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F2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4B5563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F293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III: Site Guard AI, a multi-agent system that takes a construction safety or quality incident from report to verified closure with AI decision support and human approval. Presented by S.K. Sricharan (T9984).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Context, what the system is, and the live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objectives; each is delivered and measured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modules built and integrated in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module: what each agent does and the guardrails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system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architecture, from users to data. Arrows show the request path. Everything runs in one Docker image; PostgreSQL is the system of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top row left to right, then the bottom row right to left. Blue = AI agent, teal = deterministic, green =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system was built and how accuracy was measured without fooling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algorithms on the left, technology stack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measurement before and one after tuning, on 46 held-out cases that were never used for tuning. Scores are for the offline rules provider on synthetic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resolve_all.py drove the running product over HTTP on PostgreSQL: the agents investigated, scripted reviewers decided, and every incident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test of the production image on PostgreSQL 16 (one API process, 4 vCPU host) and the quality gates that run on every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was achieved, what is honestly still open, and the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microsoft.com/office/2007/relationships/hdphoto" Target="../media/hdphoto1.wdp"/><Relationship Id="rId18" Type="http://schemas.openxmlformats.org/officeDocument/2006/relationships/image" Target="../media/image3.png"/><Relationship Id="rId19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3.wdp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M.Tech/MCA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III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Site Guard AI: Multi-Agent Construction Safety</a:t>
            </a:r>
          </a:p>
          <a:p>
            <a:pPr lvl="0" algn="ctr"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&amp; Quality Incident Resolution System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2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600" b="1" dirty="0">
                <a:solidFill>
                  <a:prstClr val="white"/>
                </a:solidFill>
                <a:cs typeface="Calibri" panose="020F0502020204030204" pitchFamily="34" charset="0"/>
              </a:rPr>
              <a:t>S.K. Sricharan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T-Series ID: T9984</a:t>
            </a:r>
          </a:p>
          <a:p>
            <a:pPr lvl="0" algn="ctr">
              <a:defRPr/>
            </a:pPr>
            <a:endParaRPr lang="en-US" sz="1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6263640" cy="39319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Construction sites report two kinds of events that must be investigated and closed: </a:t>
            </a:r>
            <a:r>
              <a:rPr sz="1600" b="1">
                <a:solidFill>
                  <a:srgbClr val="1F4E79"/>
                </a:solidFill>
                <a:latin typeface="Calibri"/>
              </a:rPr>
              <a:t>safety incidents</a:t>
            </a:r>
            <a:r>
              <a:rPr sz="1600" b="0">
                <a:solidFill>
                  <a:srgbClr val="1F2937"/>
                </a:solidFill>
                <a:latin typeface="Calibri"/>
              </a:rPr>
              <a:t> (falls, struck-by, excavation collapse, electrical, lifting, plant) and </a:t>
            </a:r>
            <a:r>
              <a:rPr sz="1600" b="1">
                <a:solidFill>
                  <a:srgbClr val="1F4E79"/>
                </a:solidFill>
                <a:latin typeface="Calibri"/>
              </a:rPr>
              <a:t>quality defects</a:t>
            </a:r>
            <a:r>
              <a:rPr sz="1600" b="0">
                <a:solidFill>
                  <a:srgbClr val="1F2937"/>
                </a:solidFill>
                <a:latin typeface="Calibri"/>
              </a:rPr>
              <a:t> (cracking, honeycombing, low cover, tolerance, water ingress).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Site Guard AI</a:t>
            </a:r>
            <a:r>
              <a:rPr sz="1600" b="0">
                <a:solidFill>
                  <a:srgbClr val="1F2937"/>
                </a:solidFill>
                <a:latin typeface="Calibri"/>
              </a:rPr>
              <a:t> is an agentic decision-support and workflow platform: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Six bounded AI agents triage and investigate each incident, find root causes, map it to company procedures and propose corrective and preventive actions (CAPA)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Every finding cites the procedure it came from; risk is scored by a deterministic 5×5 matrix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Qualified people approve, verify and close; the AI never approves, closes or certifies compliance</a:t>
            </a:r>
          </a:p>
        </p:txBody>
      </p:sp>
      <p:pic>
        <p:nvPicPr>
          <p:cNvPr id="7" name="Picture 6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371600"/>
            <a:ext cx="4846320" cy="27260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4114800"/>
            <a:ext cx="484632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Live Site Guard AI dashboard after resolving every incident (synthetic demo project)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20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hazard &amp; defect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6 + 1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agents + 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user roles (RBAC)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Unified incident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Report safety and quality incidents with photos and documents, scoped by organisation and project, with a full lifecycle and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61688" y="1508760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AI-assisted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Triage, safety / quality investigation, 5-Whys root cause and compliance mapping by bounded agents with validated,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74736" y="1508760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46304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Grounded in procedures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requirement and answer cites the retrieved company procedure; unsupported claims are removed and injected instructions are flagged.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Deterministic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5×5 likelihood × consequence matrix computes the risk band; the AI may only suggest the inputs.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361688" y="34747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Human-in-the-loop CAPA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AI proposes actions; authorised people approve, verify and close. No safety-critical incident is ever closed automatically.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174736" y="34747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42900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Measured &amp; deployable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 85% class and ≥ 90% domain accuracy on a held-out set; secure API, CI on every change, Docker image and Azure templates.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Modules – System Overview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Reporting, lifecycle state machine, evidence files with SHA-256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Multi-Agent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Orchestrator with six agents, checkpoints, pause / resume, conflict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35624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&amp;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PDF / DOCX upload, chunking, embeddings, hybrid search, grounded answers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Risk &amp;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5×5 risk matrix, requirement mapping marked “possible gap, needs review”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11480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CAPA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Approval by role, overdue escalation, independent verification, closure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2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273552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Vision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Photo checks for PPE / hazards / defects in an isolated process; engineer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35624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Optional Neo4j projection of incidents, causes and actions with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97696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Reports, Alerts &amp;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Markdown / Word / PDF reports, email outbox, dashboard, full audit trail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– Multi-Agent Investigation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76656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Subtopic: six bounded agents and a deterministic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7373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Class (20-class taxonomy), domain SAFETY / QUALITY / BOTH, severity, priority, missing info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860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2860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Unsafe acts, unsafe conditions, failed or missing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83463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83463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Defect, nonconformance and the inspection / test points that missed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8327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engine (no 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8327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× consequence on a 5×5 matrix → band; uses the higher of the two 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Root cause (RCA)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93192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across people, process, equipment, materials, environment,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805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4805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Maps facts to retrieved procedure clauses: likely not met / unclear – never certifies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0292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0292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Corrective and preventive actions with owner, due date and verification criterion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325880"/>
            <a:ext cx="4297680" cy="45262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0" y="1417320"/>
            <a:ext cx="3931920" cy="43891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Guardrails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Explicit tool allowlist and call budget per agent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Outputs validated against Pydantic schemas; invalid output falls back to rules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Cites only evidence retrieved in the same run; unknown citations removed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Documents and uploads treated as untrusted data; injection attempts flagged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Disagreements stored as conflicts for a person to decide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1">
                <a:solidFill>
                  <a:srgbClr val="1F2937"/>
                </a:solidFill>
                <a:latin typeface="Calibri"/>
              </a:rPr>
              <a:t>Agents never approve, verify or close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Providers: deterministic rules (offline, default) or 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Problem Statement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754880" cy="3749039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FDBFE"/>
                </a:solidFill>
                <a:latin typeface="Calibri"/>
              </a:rPr>
              <a:t>Problem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Construction organisations lack a single, trustworthy system that turns a reported safety or quality incident into an evidence-backed investigation, proportionate corrective actions and verified closure – quickly, consistently and with a complete audit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1325880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577840" y="1463039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417320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Fragmented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05940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Reports, photos, procedures, NCRs and action logs live in different tools and inboxes.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41448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577840" y="2578608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Slow, inconsistent investigations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921508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Root causes and actions depend on who investigates; procedures are not cited.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557015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77840" y="3694176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48456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Weak follow-through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37076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Overdue actions and unverified closures go unnoticed until the next incident.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672584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577840" y="480974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764024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Unsafe 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5152644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Generic AI can hallucinate, follow injected instructions or “close” an incident – unacceptable for safety.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System Architecture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98448"/>
            <a:ext cx="8778240" cy="50292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98448"/>
            <a:ext cx="1188720" cy="50292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362456"/>
            <a:ext cx="7406640" cy="374904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HSE manager · Safety &amp; QA/QC engineers · Site engineer · Project manager · Auditor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38528"/>
            <a:ext cx="8778240" cy="59436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" y="1938528"/>
            <a:ext cx="1188720" cy="5943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Web app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Next.js · TypeScript ·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FastAPI REST API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JWT · RBAC · tenant scoping · rate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67004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" y="267004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Incidents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91256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files ·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escalation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Reports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MD · Word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90104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Audit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493008"/>
            <a:ext cx="8778240" cy="9144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" y="3493008"/>
            <a:ext cx="11887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AI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91640" y="3566160"/>
            <a:ext cx="1463040" cy="768096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checkpoints · pause / resume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40096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0096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566160"/>
            <a:ext cx="1325880" cy="768096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Risk engine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5×5 matrix (no AI)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3566160"/>
            <a:ext cx="1280160" cy="768096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Human gate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approve · verify · close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454456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4632" y="454456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164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pgvector + BM25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4608576"/>
            <a:ext cx="128016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Neo4j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508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 store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SHA-256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rules / Claude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" y="180136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0" y="253288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0" y="335584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394960" y="440740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418320" y="1298448"/>
            <a:ext cx="2377440" cy="393192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91472" y="1371600"/>
            <a:ext cx="2240280" cy="3840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Platform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One Docker image: API + web app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Alembic migrations on start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GitHub Actions: 7 CI jobs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Azure Bicep: Container Apps, PostgreSQL, Key Vault, Files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Security headers, CSP, login throttle, upload checks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Structured logs with correlation IDs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Request path: user → web app → API (authorisation enforced server-side) → services → agents → data. The browser never decides access.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Incident Resolution Workflow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Report incident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+ photos,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class · domain · severity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12264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/ Quality agents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acts · conditions · controls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9936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matrix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5×5 → band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07608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02167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RCA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5-Whys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1874519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49839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cited clauses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2951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49839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corrective &amp; preventive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02167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approve / modify / reject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9902951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54495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Action work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owners · due dates · escalation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955279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06823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Verification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independent person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007607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359151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Closure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authorised role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059935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86515" y="2359152"/>
            <a:ext cx="0" cy="493776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1480" y="2926080"/>
            <a:ext cx="1673352" cy="8229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Checkpointed after every stage: pause, resume or cancel; crashed runs resume without repeating 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02336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Incident status (enforced by the API)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Reported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3048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Under investigation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30168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31536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approval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48655" y="4617720"/>
            <a:ext cx="164593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Action in progress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67144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668512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verification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85632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8700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DF6EA"/>
          </a:solidFill>
          <a:ln w="15875">
            <a:solidFill>
              <a:srgbClr val="4C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4C9A3C"/>
                </a:solidFill>
                <a:latin typeface="Calibri"/>
              </a:rPr>
              <a:t>Closed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04120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4983480"/>
            <a:ext cx="9601200" cy="68580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actions need the HSE manager; an assignee cannot verify their own action; an incident closes only from Pending verification and only when every AI conflict has a recorded human decision.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Development &amp; Evaluation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Calibri"/>
              </a:rPr>
              <a:t>Staged delivery, every change through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566928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B5563"/>
                </a:solidFill>
                <a:latin typeface="Calibri"/>
              </a:rPr>
              <a:t>READ → INSPECT → PLAN → IMPLEMENT → TEST → REVIEW → DOCUMENT → COMMIT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3911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Hardening, Azure IaC, staging, backup / restore, smoke test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87752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69464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 parsing, embeddings, hybrid retrieval, grounded answers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1810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99816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Word / PDF investigation reports, email outbox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30168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Vision analysis, knowledge graph, resumable workflows, conflicts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178808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Web screens for every feature, browser tests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70916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9087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Accuracy round, load testing, concurrency 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280160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60" y="1371600"/>
            <a:ext cx="5120640" cy="411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Honest evaluation protocol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19202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28799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Freeze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A separate author writes 46 held-out cases; committed before any tuning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8346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7432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Tune on dev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Rules and procedures improved using 120 dev cases; held-out never opened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37490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576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Measure once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Held-out scored once on the frozen rules and published as is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466344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5720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Gate in 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Floors just under the results, 0 CRITICAL under-rated, 10/10 red-team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7B675-E694-7663-D55C-2461C40B8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243BDD-B44E-04F0-FA93-336DD2FFA770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Approach, Algorithms &amp; Tools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963133-FFA1-7CF4-9FAD-E6A120EF423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EA3EC9D-D5AF-E54C-A3D0-5E42F32DC03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6187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399031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Weighted keyword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4193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20-class taxonomy; title words ×2, ambiguous words ×0.5; falling-object, fall and struck-by patterns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8640" y="2450591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Hybrid retrieval 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9349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BM25 + vector search fused by Reciprocal Rank Fusion, then a deterministic rerank on coverage, headings and phrases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64991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48640" y="3502151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5643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Deterministic risk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505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(1–5) × consequence (1–5) → LOW / MEDIUM / HIGH / CRITICAL; the AI only suggests inputs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655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455371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0799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Root cause &amp; grounding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9661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over six cause categories; answers keep only claims supported by cited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280160"/>
            <a:ext cx="457200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Tools &amp; technologies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Python 3.12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23376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68712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SQLAlchemy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3376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Alembic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8712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pgvector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23376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68712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23376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Azure Bicep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68712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78040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Playwright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23376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ruff · mypy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8712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107944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AI Accuracy on Held-out Data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280160"/>
          <a:ext cx="75895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13258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325880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132588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incidents rated LOW or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350008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0" y="2350008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50008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red-team attacks 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374136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0" y="3374136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3374136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workflow invariants held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98264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0" y="4398264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398264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labelled cases: 120 dev + 46 held-out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All four accuracy targets met; class +21.7 points and retrieval +26.1 points after tuning.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End-to-End Incident Resolution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572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Incidents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Open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awaiting review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overdue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Mean days to close*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107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agent runs, 0 failures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90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human decisions: 74 approved, 16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21 / 21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incidents closed after verification</a:t>
            </a:r>
          </a:p>
        </p:txBody>
      </p:sp>
      <p:pic>
        <p:nvPicPr>
          <p:cNvPr id="10" name="Picture 9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25880"/>
            <a:ext cx="6492240" cy="36518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0" y="5029200"/>
            <a:ext cx="6492240" cy="5486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Dashboard after the run: 21 incidents closed, 0 open, 0 overdue. *Scripted reviewers act within minutes, so days-to-close is a workflow check, not a performance figure.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Performance &amp; Engineering Quality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14400"/>
                <a:gridCol w="822960"/>
                <a:gridCol w="9144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 test run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Req/s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 p95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Single user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28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Saturation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745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Realistic mix (2 s think time)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100 + 2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802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 concurrent reporters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 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718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379476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6492240" cy="12801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Bug found and fixed by the load test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Two reports submitted at the same moment received the same reference and one failed (HTTP 500). Fixed with a PostgreSQL advisory lock plus a retry; 113 simultaneous reports later, no collision.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325880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89520" y="1325880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25880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backend tests (unit, API, migrations, evaluation, red-team)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304288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20" y="2304288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04288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browser end-to-end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3282696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89520" y="3282696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82696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CI jobs green on every pull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61104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89520" y="4261104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61104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open dependency-audit findings (Python + npm)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One process serves ≈ 55 req/s – enough for a pilot with tens of active users; the dashboard is the first thing to optimise before scaling.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BBC5-46B5-0DF4-A2AC-5289D295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EA9949-295E-B2C7-8E3A-639B0AD48F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Conclusion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3477A6-BED1-8211-5527-9030F1E8694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B5AC1E1-8B68-1019-1B7A-0CF7BDC8B3EC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Achieved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91640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30352" y="18745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End-to-end platform: report → AI investigation → human approval → verified closure, with a full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87752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30352" y="277063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87752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Six bounded agents plus a deterministic risk engine; outputs validated, cited and never self-approving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83864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30352" y="3666744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83864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Accuracy targets met on held-out data: class 89%, domain 93%, retrieval 93%, 0 critical under-rated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79976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" y="4562856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379976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Production engineering: secure API, 7-job CI, Docker image, Azure templates, load-tested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54406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691640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1691640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Real data: </a:t>
            </a:r>
            <a:r>
              <a:rPr sz="1300" b="0">
                <a:solidFill>
                  <a:srgbClr val="1F2937"/>
                </a:solidFill>
                <a:latin typeface="Calibri"/>
              </a:rPr>
              <a:t>Expert-labelled pilot reports; real OSHA Severe Injury Reports scoring (pipeline ready)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87752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2587752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Claude provider: </a:t>
            </a:r>
            <a:r>
              <a:rPr sz="1300" b="0">
                <a:solidFill>
                  <a:srgbClr val="1F2937"/>
                </a:solidFill>
                <a:latin typeface="Calibri"/>
              </a:rPr>
              <a:t>Score the LLM provider on the same held-out protocol with an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483864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3483864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Scale: </a:t>
            </a:r>
            <a:r>
              <a:rPr sz="1300" b="0">
                <a:solidFill>
                  <a:srgbClr val="1F2937"/>
                </a:solidFill>
                <a:latin typeface="Calibri"/>
              </a:rPr>
              <a:t>SQL aggregates and pagination for the dashboard; shared login throttle before scaling 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79976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4379976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Deploy &amp; extend: </a:t>
            </a:r>
            <a:r>
              <a:rPr sz="1300" b="0">
                <a:solidFill>
                  <a:srgbClr val="1F2937"/>
                </a:solidFill>
                <a:latin typeface="Calibri"/>
              </a:rPr>
              <a:t>Azure staging; licensed vision model; graph-aware retrieval; OIDC sign-in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Site Guard AI is decision support: people stay accountable for every safety decision, and the system never certifies legal compliance.</a:t>
            </a:r>
          </a:p>
        </p:txBody>
      </p:sp>
    </p:spTree>
    <p:extLst>
      <p:ext uri="{BB962C8B-B14F-4D97-AF65-F5344CB8AC3E}">
        <p14:creationId xmlns:p14="http://schemas.microsoft.com/office/powerpoint/2010/main" val="219837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56F40-96CC-DEF8-9EB7-14523723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DDE408-8E1E-6FA2-7CC4-7953936B171B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 err="1">
                <a:solidFill>
                  <a:srgbClr val="5B9BD5">
                    <a:lumMod val="50000"/>
                  </a:srgbClr>
                </a:solidFill>
              </a:rPr>
              <a:t>Acknowledgement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AC8EE7-5ED3-D96C-9268-8B7B9A5D057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6C5A91-6D8B-7A46-6BA9-7AF0BB8742E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554480"/>
            <a:ext cx="8869680" cy="3291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sincerely thank the University and LTIMindtree for the Advanced Industry Integrated M.Tech / MCA Program, and L&amp;T EduTech as implementation partner, for the opportunity and guidance to carry out this project.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am grateful to my project guide, mentors and reviewers for their valuable feedback across the reviews, and to my family and peers for their constant support.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– S.K. Sricharan (T9984)</a:t>
            </a:r>
          </a:p>
        </p:txBody>
      </p:sp>
    </p:spTree>
    <p:extLst>
      <p:ext uri="{BB962C8B-B14F-4D97-AF65-F5344CB8AC3E}">
        <p14:creationId xmlns:p14="http://schemas.microsoft.com/office/powerpoint/2010/main" val="1573488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C1BA9-EED8-0553-15DB-7AC5ADC07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6CD0F3-77A2-E482-9F59-462941CA9EF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References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F328B9-B5B2-A4C8-C436-49616B481A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E96C34-B06E-814D-72EC-EF1F6BBFAA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84280" cy="40233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29 CFR Part 1926 – Safety and Health Regulations for Construction (Subparts E, K, L, M, P, CC).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[2]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Severe Injury Reports dataset, https://www.osha.gov/severeinjury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[3]  </a:t>
            </a:r>
            <a:r>
              <a:rPr sz="1500" b="0">
                <a:solidFill>
                  <a:srgbClr val="1F2937"/>
                </a:solidFill>
                <a:latin typeface="Calibri"/>
              </a:rPr>
              <a:t>UK: The Work at Height Regulations 2005; CDM Regulations 2015; LOLER 1998; RIDDOR 2013.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[4]  </a:t>
            </a:r>
            <a:r>
              <a:rPr sz="1500" b="0">
                <a:solidFill>
                  <a:srgbClr val="1F2937"/>
                </a:solidFill>
                <a:latin typeface="Calibri"/>
              </a:rPr>
              <a:t>India: Building and Other Construction Workers Act 1996; OSH and Working Conditions Code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[5]  </a:t>
            </a:r>
            <a:r>
              <a:rPr sz="1500" b="0">
                <a:solidFill>
                  <a:srgbClr val="1F2937"/>
                </a:solidFill>
                <a:latin typeface="Calibri"/>
              </a:rPr>
              <a:t>ISO 45001:2018, Occupational health and safety management systems – Requirements.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[6]  </a:t>
            </a:r>
            <a:r>
              <a:rPr sz="1500" b="0">
                <a:solidFill>
                  <a:srgbClr val="1F2937"/>
                </a:solidFill>
                <a:latin typeface="Calibri"/>
              </a:rPr>
              <a:t>S. Robertson and H. Zaragoza, “The Probabilistic Relevance Framework: BM25 and Beyond,” Foundations and Trends in Information Retrieval,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[7]  </a:t>
            </a:r>
            <a:r>
              <a:rPr sz="1500" b="0">
                <a:solidFill>
                  <a:srgbClr val="1F2937"/>
                </a:solidFill>
                <a:latin typeface="Calibri"/>
              </a:rPr>
              <a:t>G. V. Cormack, C. L. A. Clarke and S. Büttcher, “Reciprocal Rank Fusion outperforms Condorcet and individual rank learning methods,” SIGIR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[8]  </a:t>
            </a:r>
            <a:r>
              <a:rPr sz="1500" b="0">
                <a:solidFill>
                  <a:srgbClr val="1F2937"/>
                </a:solidFill>
                <a:latin typeface="Calibri"/>
              </a:rPr>
              <a:t>P. Lewis et al., “Retrieval-Augmented Generation for Knowledge-Intensive NLP Tasks,” NeurIPS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[9]  </a:t>
            </a:r>
            <a:r>
              <a:rPr sz="1500" b="0">
                <a:solidFill>
                  <a:srgbClr val="1F2937"/>
                </a:solidFill>
                <a:latin typeface="Calibri"/>
              </a:rPr>
              <a:t>OWASP, Top 10 for Large Language Model Applications (prompt injection, insecure output handling).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[10]  </a:t>
            </a:r>
            <a:r>
              <a:rPr sz="1500" b="0">
                <a:solidFill>
                  <a:srgbClr val="1F2937"/>
                </a:solidFill>
                <a:latin typeface="Calibri"/>
              </a:rPr>
              <a:t>Documentation: FastAPI, SQLAlchemy, PostgreSQL / pgvector, Neo4j, Next.js, Playwright, Anthropic Claude API.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[11]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Project repository: github.com/sricharansk/SITEGUARD-AI (docs/EVALUATION.md, docs/LOAD_TEST.md, docs/RESULTS.md).</a:t>
            </a:r>
          </a:p>
        </p:txBody>
      </p:sp>
    </p:spTree>
    <p:extLst>
      <p:ext uri="{BB962C8B-B14F-4D97-AF65-F5344CB8AC3E}">
        <p14:creationId xmlns:p14="http://schemas.microsoft.com/office/powerpoint/2010/main" val="1659890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205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(Body)</vt:lpstr>
      <vt:lpstr>Calibri Light</vt:lpstr>
      <vt:lpstr>Frutiger 45 bold</vt:lpstr>
      <vt:lpstr>Frutiger LT Pro 45 Light</vt:lpstr>
      <vt:lpstr>source-serif-pro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HARI PRASATH</cp:lastModifiedBy>
  <cp:revision>14</cp:revision>
  <dcterms:created xsi:type="dcterms:W3CDTF">2024-05-13T10:33:11Z</dcterms:created>
  <dcterms:modified xsi:type="dcterms:W3CDTF">2025-10-06T09:41:15Z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