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17"/>
    <p:sldId id="2147470494" r:id="rId6"/>
    <p:sldId id="2147470501" r:id="rId7"/>
    <p:sldId id="2147470506" r:id="rId19"/>
    <p:sldId id="2147470505" r:id="rId18"/>
    <p:sldId id="2147470498" r:id="rId8"/>
    <p:sldId id="2147470497" r:id="rId9"/>
    <p:sldId id="2147470508" r:id="rId21"/>
    <p:sldId id="2147470510" r:id="rId23"/>
    <p:sldId id="2147470509" r:id="rId22"/>
    <p:sldId id="2147470507" r:id="rId20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6.xml"/><Relationship Id="rId11" Type="http://schemas.openxmlformats.org/officeDocument/2006/relationships/slide" Target="slides/slide17.xml"/><Relationship Id="rId12" Type="http://schemas.openxmlformats.org/officeDocument/2006/relationships/slide" Target="slides/slide18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5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15.xml"/><Relationship Id="rId21" Type="http://schemas.openxmlformats.org/officeDocument/2006/relationships/slide" Target="slides/slide12.xml"/><Relationship Id="rId22" Type="http://schemas.openxmlformats.org/officeDocument/2006/relationships/slide" Target="slides/slide14.xml"/><Relationship Id="rId23" Type="http://schemas.openxmlformats.org/officeDocument/2006/relationships/slide" Target="slides/slide13.xml"/><Relationship Id="rId2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9DB7D5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Incident class</c:v>
                </c:pt>
                <c:pt idx="1">
                  <c:v>Domain</c:v>
                </c:pt>
                <c:pt idx="2">
                  <c:v>Severity ±1 level</c:v>
                </c:pt>
                <c:pt idx="3">
                  <c:v>Right procedure (top 3)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67.4</c:v>
                </c:pt>
                <c:pt idx="1">
                  <c:v>80.4</c:v>
                </c:pt>
                <c:pt idx="2">
                  <c:v>95.5</c:v>
                </c:pt>
                <c:pt idx="3">
                  <c:v>67.4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</c:v>
                </c:pt>
              </c:strCache>
            </c:strRef>
          </c:tx>
          <c:spPr>
            <a:solidFill>
              <a:srgbClr val="1F4E79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Incident class</c:v>
                </c:pt>
                <c:pt idx="1">
                  <c:v>Domain</c:v>
                </c:pt>
                <c:pt idx="2">
                  <c:v>Severity ±1 level</c:v>
                </c:pt>
                <c:pt idx="3">
                  <c:v>Right procedure (top 3)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89.1</c:v>
                </c:pt>
                <c:pt idx="1">
                  <c:v>93.5</c:v>
                </c:pt>
                <c:pt idx="2">
                  <c:v>97.7</c:v>
                </c:pt>
                <c:pt idx="3">
                  <c:v>93.5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4C9A3C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Incident class</c:v>
                </c:pt>
                <c:pt idx="1">
                  <c:v>Domain</c:v>
                </c:pt>
                <c:pt idx="2">
                  <c:v>Severity ±1 level</c:v>
                </c:pt>
                <c:pt idx="3">
                  <c:v>Right procedure (top 3)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85</c:v>
                </c:pt>
                <c:pt idx="1">
                  <c:v>90</c:v>
                </c:pt>
                <c:pt idx="2">
                  <c:v>90</c:v>
                </c:pt>
                <c:pt idx="3">
                  <c:v>85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B556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III: Site Guard AI, a multi-agent system that takes a construction safety or quality incident from report to verified closure with AI decision support and human approval. Presented by S.K. Sricharan (T9984).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Context, what the system is, and the live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objectives; each is delivered and measured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modules built and integrated in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module: what each agent does and the guardrails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system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architecture, from users to data. Arrows show the request path. Everything runs in one Docker image; PostgreSQL is the system of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top row left to right, then the bottom row right to left. Blue = AI agent, teal = deterministic, green = a person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system was built and how accuracy was measured without fooling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algorithms on the left, technology stack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measurement before and one after tuning, on 46 held-out cases that were never used for tuning. Scores are for the offline rules provider on synthetic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resolve_all.py drove the running product over HTTP on PostgreSQL: the agents investigated, scripted reviewers decided, and every incident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 from the running product (browser end-to-end run on main). AI output is labelled; actions wait for the HSE manager; closure needs verified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Grounded answers cite the procedure passage they come from; photo findings are suggestions for an engineer; every action is in the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test of the production image on PostgreSQL 16 (one API process, 4 vCPU host) and the quality gates that run on every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was achieved, what is honestly still open, and the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cs typeface="Calibri" panose="020F0502020204030204" pitchFamily="34" charset="0"/>
              </a:rPr>
              <a:t>Site Guard AI: Multi-Agent Construction Safety</a:t>
            </a:r>
          </a:p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cs typeface="Calibri" panose="020F0502020204030204" pitchFamily="34" charset="0"/>
              </a:rPr>
              <a:t>&amp; Quality Incident Resolution System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2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600" b="1" dirty="0">
                <a:solidFill>
                  <a:prstClr val="white"/>
                </a:solidFill>
                <a:cs typeface="Calibri" panose="020F0502020204030204" pitchFamily="34" charset="0"/>
              </a:rPr>
              <a:t>S.K. Sricharan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T-Series ID: T9984</a:t>
            </a:r>
          </a:p>
          <a:p>
            <a:pPr lvl="0" algn="ctr">
              <a:defRPr/>
            </a:pPr>
            <a:endParaRPr lang="en-US" sz="1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6263640" cy="39319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Construction sites report two kinds of events that must be investigated and closed: </a:t>
            </a:r>
            <a:r>
              <a:rPr sz="1600" b="1">
                <a:solidFill>
                  <a:srgbClr val="1F4E79"/>
                </a:solidFill>
                <a:latin typeface="Calibri"/>
              </a:rPr>
              <a:t>safety incidents</a:t>
            </a:r>
            <a:r>
              <a:rPr sz="1600" b="0">
                <a:solidFill>
                  <a:srgbClr val="1F2937"/>
                </a:solidFill>
                <a:latin typeface="Calibri"/>
              </a:rPr>
              <a:t> (falls, struck-by, excavation collapse, electrical, lifting, plant) and </a:t>
            </a:r>
            <a:r>
              <a:rPr sz="1600" b="1">
                <a:solidFill>
                  <a:srgbClr val="1F4E79"/>
                </a:solidFill>
                <a:latin typeface="Calibri"/>
              </a:rPr>
              <a:t>quality defects</a:t>
            </a:r>
            <a:r>
              <a:rPr sz="1600" b="0">
                <a:solidFill>
                  <a:srgbClr val="1F2937"/>
                </a:solidFill>
                <a:latin typeface="Calibri"/>
              </a:rPr>
              <a:t> (cracking, honeycombing, low cover, tolerance, water ingress).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Site Guard AI</a:t>
            </a:r>
            <a:r>
              <a:rPr sz="1600" b="0">
                <a:solidFill>
                  <a:srgbClr val="1F2937"/>
                </a:solidFill>
                <a:latin typeface="Calibri"/>
              </a:rPr>
              <a:t> is an agentic decision-support and workflow platform: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Calibri"/>
              </a:rPr>
              <a:t>Six bounded AI agents triage and investigate each incident, find root causes, map it to company procedures and propose corrective and preventive actions (CAPA)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Calibri"/>
              </a:rPr>
              <a:t>Every finding cites the procedure it came from; risk is scored by a deterministic 5×5 matrix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Calibri"/>
              </a:rPr>
              <a:t>Qualified people approve, verify and close; the AI never approves, closes or certifies compliance</a:t>
            </a:r>
          </a:p>
        </p:txBody>
      </p:sp>
      <p:pic>
        <p:nvPicPr>
          <p:cNvPr id="7" name="Picture 6" descr="dashboard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71600"/>
            <a:ext cx="4846320" cy="2726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4114800"/>
            <a:ext cx="484632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Live Site Guard AI dashboard after resolving every incident (synthetic demo project)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57200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20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hazard &amp; defect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57200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6 + 1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AI agents + risk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457200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Calibri"/>
              </a:rPr>
              <a:t>9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user roles (RBAC)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Unified incident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Report safety and quality incidents with photos and documents, scoped by organisation and project, with a full lifecycle and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37160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361688" y="1508760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463040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AI-assisted investigation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74519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Triage, safety / quality investigation, 5-Whys root cause and compliance mapping by bounded agents with validated, structured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37160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74736" y="1508760"/>
            <a:ext cx="411480" cy="4114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1463040"/>
            <a:ext cx="2944367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Grounded in procedures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74519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Every requirement and answer cites the retrieved company procedure; unsupported claims are removed and injected instructions are flagged.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3756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Deterministic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5×5 likelihood × consequence matrix computes the risk band; the AI may only suggest the inputs.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333756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361688" y="3474720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429000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Human-in-the-loop CAPA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840480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AI proposes actions; authorised people approve, verify and close. No safety-critical incident is ever closed automatically.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5" y="333756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174736" y="3474720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3429000"/>
            <a:ext cx="2944367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Measured &amp; deployable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840480"/>
            <a:ext cx="3355848" cy="1234439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≥ 85% class and ≥ 90% domain accuracy on a held-out set; secure API, CI on every change, Docker image and Azure templates.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– System Overview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30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Incident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29967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Reporting, lifecycle state machine, evidence files with SHA-256 integrity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37160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Multi-Agent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29967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Orchestrator with six agents, checkpoints, pause / resume, conflict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37160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35624" y="137160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Knowledge &amp;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029967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PDF / DOCX upload, chunking, embeddings, hybrid search, grounded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37160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97696" y="137160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Risk &amp;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029967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5×5 risk matrix, requirement mapping marked “possible gap, needs review”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33756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11480" y="333756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CAPA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995928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Approval by role, overdue escalation, independent verification, closure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3552" y="333756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273552" y="333756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Vision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95928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Photo checks for PPE / hazards / defects in an isolated process; engineer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333756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35624" y="333756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Knowledge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995928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Optional Neo4j projection of incidents, causes and actions with provenance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3337560"/>
            <a:ext cx="2724912" cy="17830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997696" y="3337560"/>
            <a:ext cx="2724912" cy="566928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Reports, Alerts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3995928"/>
            <a:ext cx="2505456" cy="10515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Markdown / Word / PDF reports, email outbox, dashboard, full audit trail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– Multi-Agent Investigation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30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6766560" cy="3657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Subtopic: six bounded agents and a deterministic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37360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Class (20-class taxonomy), domain SAFETY / QUALITY / BOTH, severity, priority, missing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860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Safety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86000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Unsafe acts, unsafe conditions, failed or missing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34639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Quality investigation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34639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Defect, nonconformance and the inspection / test points that missed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83279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 engine (no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83279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Likelihood × consequence on a 5×5 matrix → band; uses the higher of the two 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93192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Root cause (RCA)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31920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5-Whys across people, process, equipment, materials, environment,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8056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480560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Maps facts to retrieved procedure clauses: likely not met / unclear – never certifies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02920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029200"/>
            <a:ext cx="457200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Corrective and preventive actions with owner, due date and verification criterion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325880"/>
            <a:ext cx="4297680" cy="452628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0" y="1417320"/>
            <a:ext cx="3931920" cy="43891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C9A3C"/>
                </a:solidFill>
                <a:latin typeface="Calibri"/>
              </a:rPr>
              <a:t>Guardrails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Explicit tool allowlist and call budget per agent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Outputs validated against Pydantic schemas; invalid output falls back to rules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Cites only evidence retrieved in the same run; unknown citations removed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Documents and uploads treated as untrusted data; injection attempts flagged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Disagreements stored as conflicts for a person to decide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1">
                <a:solidFill>
                  <a:srgbClr val="1F2937"/>
                </a:solidFill>
                <a:latin typeface="Calibri"/>
              </a:rPr>
              <a:t>Agents never approve, verify or close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Calibri"/>
              </a:rPr>
              <a:t>Providers: deterministic rules (offline, default) or Claude (optional)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4754880" cy="3749039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FDBFE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Construction organisations lack a single, trustworthy system that turns a reported safety or quality incident into an evidence-backed investigation, proportionate corrective actions and verified closure – quickly, consistently and with a complete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325880"/>
            <a:ext cx="6355080" cy="102412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577840" y="1463039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Fragmented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05940"/>
            <a:ext cx="6080760" cy="498348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Reports, photos, procedures, NCRs and action logs live in different tools and inboxes.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441448"/>
            <a:ext cx="6355080" cy="102412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577840" y="2578608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32888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Slow, inconsistent investigations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921508"/>
            <a:ext cx="6080760" cy="498348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Root causes and actions depend on who investigates; procedures are not cited.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557015"/>
            <a:ext cx="6355080" cy="102412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577840" y="3694176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648456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Weak follow-through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037076"/>
            <a:ext cx="6080760" cy="498348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Overdue actions and unverified closures go unnoticed until the next incident.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672584"/>
            <a:ext cx="6355080" cy="102412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577840" y="4809744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764024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Unsafe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152644"/>
            <a:ext cx="6080760" cy="498348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Generic AI can hallucinate, follow injected instructions or “close” an incident – unacceptable for safety.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 – 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8778240" cy="502920"/>
          </a:xfrm>
          <a:prstGeom prst="roundRect">
            <a:avLst>
              <a:gd name="adj" fmla="val 6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4632" y="1298448"/>
            <a:ext cx="1188720" cy="50292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362456"/>
            <a:ext cx="7406640" cy="374904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HSE manager · Safety &amp; QA/QC engineers · Site engineer · Project manager · Auditor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38528"/>
            <a:ext cx="8778240" cy="594360"/>
          </a:xfrm>
          <a:prstGeom prst="roundRect">
            <a:avLst>
              <a:gd name="adj" fmla="val 6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" y="1938528"/>
            <a:ext cx="1188720" cy="59436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002536"/>
            <a:ext cx="3566160" cy="466344"/>
          </a:xfrm>
          <a:prstGeom prst="roundRect">
            <a:avLst>
              <a:gd name="adj" fmla="val 12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Web app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Next.js · TypeScript · Tailwind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002536"/>
            <a:ext cx="3566160" cy="466344"/>
          </a:xfrm>
          <a:prstGeom prst="roundRect">
            <a:avLst>
              <a:gd name="adj" fmla="val 12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FastAPI REST API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JWT · RBAC · tenant scoping · rate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70048"/>
            <a:ext cx="8778240" cy="685800"/>
          </a:xfrm>
          <a:prstGeom prst="roundRect">
            <a:avLst>
              <a:gd name="adj" fmla="val 6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" y="2670048"/>
            <a:ext cx="1188720" cy="6858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734056"/>
            <a:ext cx="1389888" cy="557784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Incidents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lifecycle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734056"/>
            <a:ext cx="1389888" cy="557784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Evidence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files ·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2734056"/>
            <a:ext cx="1389888" cy="557784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CAPA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34056"/>
            <a:ext cx="1389888" cy="557784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Reports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MD · Word ·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0104" y="2734056"/>
            <a:ext cx="1389888" cy="557784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Audit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93008"/>
            <a:ext cx="8778240" cy="914400"/>
          </a:xfrm>
          <a:prstGeom prst="roundRect">
            <a:avLst>
              <a:gd name="adj" fmla="val 6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4632" y="3493008"/>
            <a:ext cx="118872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AI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3566160"/>
            <a:ext cx="1463040" cy="768096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checkpoints · pause / resume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56616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56616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0096" y="356616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968496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968496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0096" y="3968496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CAPA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66160"/>
            <a:ext cx="1325880" cy="768096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Risk engine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5×5 matrix (no AI)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566160"/>
            <a:ext cx="1280160" cy="768096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Human gate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approve · verify · close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544568"/>
            <a:ext cx="8778240" cy="685800"/>
          </a:xfrm>
          <a:prstGeom prst="roundRect">
            <a:avLst>
              <a:gd name="adj" fmla="val 6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4632" y="4544568"/>
            <a:ext cx="1188720" cy="6858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40" y="4608576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PostgreSQL 16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system of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4608576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pgvector + BM25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hybrid RAG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3480" y="4608576"/>
            <a:ext cx="1280160" cy="557784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Neo4j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knowledge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608576"/>
            <a:ext cx="1325880" cy="557784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Evidence store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SHA-256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608576"/>
            <a:ext cx="1325880" cy="557784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LLM provider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rules / Claude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94960" y="1801368"/>
            <a:ext cx="0" cy="13716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94960" y="2532888"/>
            <a:ext cx="0" cy="13716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94960" y="3355848"/>
            <a:ext cx="0" cy="13716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94960" y="4407408"/>
            <a:ext cx="0" cy="13716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418320" y="1298448"/>
            <a:ext cx="2377440" cy="393192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491472" y="1371600"/>
            <a:ext cx="2240280" cy="38404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C9A3C"/>
                </a:solidFill>
                <a:latin typeface="Calibri"/>
              </a:rPr>
              <a:t>Platform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One Docker image: API + web app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Alembic migrations on start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GitHub Actions: 7 CI jobs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Azure Bicep: Container Apps, PostgreSQL, Key Vault, Files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Security headers, CSP, login throttle, upload checks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Structured logs with correlation IDs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534924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Request path: user → web app → API (authorisation enforced server-side) → services → agents → data. The browser never decides access.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 – Incident Resolution Workflow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Report incident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+ photos,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Triage agent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class · domain · severity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12264" y="1874519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06824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Safety / Quality agents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acts · conditions · controls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59936" y="1874519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54496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Risk matrix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5×5 → band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07608" y="1874519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02167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RCA agent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5-Whys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1874519"/>
            <a:ext cx="219457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49839" y="141732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Compliance agent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cited clauses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02951" y="1874519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49839" y="28803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CAPA agent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corrective &amp; preventive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7" y="28803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Human review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approve / modify / reject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902951" y="3337560"/>
            <a:ext cx="219457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54495" y="28803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Action work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owners · due dates · escalation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955279" y="3337560"/>
            <a:ext cx="219457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06823" y="28803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Verification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independent person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007607" y="3337560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59151" y="28803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Closure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authorised role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059935" y="3337560"/>
            <a:ext cx="21945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86515" y="2359152"/>
            <a:ext cx="0" cy="493776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2926080"/>
            <a:ext cx="1673352" cy="82296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Checkpointed after every stage: pause, resume or cancel; crashed runs resume without repeating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02336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Incident status (enforced by the API)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EF5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Reported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3048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EF5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Under investigation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30168" y="4617720"/>
            <a:ext cx="164592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31536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EF5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Pending approval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48655" y="4617720"/>
            <a:ext cx="164593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50024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EF5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Action in progress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67144" y="4617720"/>
            <a:ext cx="164592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68512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EF5FB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Pending verification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85632" y="4617720"/>
            <a:ext cx="164592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287000" y="4389120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DF6EA"/>
          </a:solidFill>
          <a:ln w="15875">
            <a:solidFill>
              <a:srgbClr val="4C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4C9A3C"/>
                </a:solidFill>
                <a:latin typeface="Calibri"/>
              </a:rPr>
              <a:t>Closed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04120" y="4617720"/>
            <a:ext cx="164592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94560" y="4983480"/>
            <a:ext cx="9601200" cy="68580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Critical actions need the HSE manager; an assignee cannot verify their own action; an incident closes only from Pending verification and only when every AI conflict has a recorded human decision.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 – Development &amp; Evaluation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669280" cy="3657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Staged delivery, every change through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566928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B5563"/>
                </a:solidFill>
                <a:latin typeface="Calibri"/>
              </a:rPr>
              <a:t>READ → INSPECT → PLAN → IMPLEMENT → TEST → REVIEW → DOCUMENT → COMMIT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Hardening, Azure IaC, staging, backup / restore, smoke test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87752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9464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Document parsing, embeddings, hybrid retrieval, grounded answers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18104"/>
            <a:ext cx="411480" cy="411480"/>
          </a:xfrm>
          <a:prstGeom prst="ellipse">
            <a:avLst/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99816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Word / PDF investigation reports, email outbox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30168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Vision analysis, knowledge graph, resumable workflows, conflicts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78808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Web screens for every feature, browser tests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90872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Accuracy round, load testing, concurrency fix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280160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37960" y="13716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Honest evaluation protocol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1920239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828799"/>
            <a:ext cx="4572000" cy="8686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Freeze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A separate author writes 46 held-out cases; committed before any tuning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834639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743200"/>
            <a:ext cx="4572000" cy="8686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Tune on dev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Rules and procedures improved using 120 dev cases; held-out never opened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749039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657600"/>
            <a:ext cx="4572000" cy="8686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Measure once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Held-out scored once on the frozen rules and published as is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663440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572000"/>
            <a:ext cx="4572000" cy="86868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Gate in CI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Calibri"/>
              </a:rPr>
              <a:t>Floors just under the results, 0 CRITICAL under-rated, 10/10 red-team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61872"/>
            <a:ext cx="6492240" cy="10058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48640" y="1399031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580644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Weighted keyword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41931"/>
            <a:ext cx="6217920" cy="4800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20-class taxonomy; title words ×2, ambiguous words ×0.5; falling-object, fall and struck-by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6492240" cy="10058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48640" y="2450591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580644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Hybrid retrieval 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93491"/>
            <a:ext cx="6217920" cy="4800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BM25 + vector search fused by Reciprocal Rank Fusion, then a deterministic rerank on coverage, headings and phrases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64991"/>
            <a:ext cx="6492240" cy="10058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48640" y="3502151"/>
            <a:ext cx="411480" cy="4114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80644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Deterministic risk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5052"/>
            <a:ext cx="6217920" cy="4800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Likelihood (1–5) × consequence (1–5) → LOW / MEDIUM / HIGH / CRITICAL; the AI only suggests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16552"/>
            <a:ext cx="6492240" cy="10058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48640" y="4553712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07992"/>
            <a:ext cx="5806440" cy="4572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Root cause &amp; 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6612"/>
            <a:ext cx="6217920" cy="4800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5-Whys over six cause categories; answers keep only claims supported by cited chunks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280160"/>
            <a:ext cx="4572000" cy="3657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Tools &amp; technologies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73736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Python 3.12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23376" y="173736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68712" y="173736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Pydantic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340864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SQLAlchemy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23376" y="2340864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Alembic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68712" y="2340864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944368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23376" y="2944368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Neo4j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944368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547872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3376" y="3547872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68712" y="3547872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4151376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3376" y="4151376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1BA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Azure Bicep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68712" y="4151376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75488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3376" y="475488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ruff · mypy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68712" y="4754880"/>
            <a:ext cx="1435608" cy="475488"/>
          </a:xfrm>
          <a:prstGeom prst="roundRect">
            <a:avLst>
              <a:gd name="adj" fmla="val 3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Claude (optional)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– AI Accuracy on Held-out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280160"/>
          <a:ext cx="75895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3258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0" y="1325880"/>
            <a:ext cx="128016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4C9A3C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325880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CRITICAL incidents rated LOW or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350008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0" y="2350008"/>
            <a:ext cx="128016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4C9A3C"/>
                </a:solidFill>
                <a:latin typeface="Calibri"/>
              </a:rPr>
              <a:t>10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350008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red-team attacks contained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74136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3374136"/>
            <a:ext cx="128016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4C9A3C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374136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workflow invariants held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398264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0" y="4398264"/>
            <a:ext cx="128016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398264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labelled cases: 120 dev + 46 held-out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34924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All four accuracy targets met; class +21.7 points and retrieval +26.1 points after tuning.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– End-to-End Incident Resolution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4572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Incidents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C9A3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Open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C9A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Actions awaiting review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C9A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Actions overdue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C9A3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Mean days to close*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C9A3C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160520"/>
            <a:ext cx="1463040" cy="105156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4C9A3C"/>
                </a:solidFill>
                <a:latin typeface="Calibri"/>
              </a:rPr>
              <a:t>107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agent runs, 0 failures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4160520"/>
            <a:ext cx="1463040" cy="105156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4C9A3C"/>
                </a:solidFill>
                <a:latin typeface="Calibri"/>
              </a:rPr>
              <a:t>79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human decisions: 64 approved, 15 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160520"/>
            <a:ext cx="1463040" cy="105156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4C9A3C"/>
                </a:solidFill>
                <a:latin typeface="Calibri"/>
              </a:rPr>
              <a:t>21 / 21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incidents closed after verification</a:t>
            </a:r>
          </a:p>
        </p:txBody>
      </p:sp>
      <p:pic>
        <p:nvPicPr>
          <p:cNvPr id="10" name="Picture 9" descr="dashboard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25880"/>
            <a:ext cx="6492240" cy="36518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5029200"/>
            <a:ext cx="6492240" cy="5486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Dashboard after the run: 21 incidents closed, 0 open, 0 overdue. *Scripted reviewers act within minutes, so days-to-close is a workflow check, not a performance figure.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– The Product: Investigation to Closure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pic>
        <p:nvPicPr>
          <p:cNvPr id="6" name="Picture 5" descr="s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5120640" cy="360045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898898"/>
            <a:ext cx="512064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AI investigation of a new report: triage, safety findings, 5×5 risk, root causes, all marked AI-generated</a:t>
            </a:r>
          </a:p>
        </p:txBody>
      </p:sp>
      <p:pic>
        <p:nvPicPr>
          <p:cNvPr id="8" name="Picture 7" descr="s_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280160"/>
            <a:ext cx="6035040" cy="155590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760720" y="2854356"/>
            <a:ext cx="603504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Action queue: every AI-proposed action waits for a person; critical ones only for the HSE manager</a:t>
            </a:r>
          </a:p>
        </p:txBody>
      </p:sp>
      <p:pic>
        <p:nvPicPr>
          <p:cNvPr id="10" name="Picture 9" descr="s_clo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201828"/>
            <a:ext cx="6035040" cy="2074545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760720" y="5294661"/>
            <a:ext cx="603504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The same incident closed, only after each approved action was verified effective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– The Product: Knowledge, Photos &amp; Audit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pic>
        <p:nvPicPr>
          <p:cNvPr id="6" name="Picture 5" descr="s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5715000" cy="1674316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2972764"/>
            <a:ext cx="571500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Grounded answer: each statement cites its source passage, or says the documents do not answer</a:t>
            </a:r>
          </a:p>
        </p:txBody>
      </p:sp>
      <p:pic>
        <p:nvPicPr>
          <p:cNvPr id="8" name="Picture 7" descr="s_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38524"/>
            <a:ext cx="5715000" cy="187523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232046"/>
            <a:ext cx="571500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Audit trail: every human and agent action with a correlation ID</a:t>
            </a:r>
          </a:p>
        </p:txBody>
      </p:sp>
      <p:pic>
        <p:nvPicPr>
          <p:cNvPr id="10" name="Picture 9" descr="s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80160"/>
            <a:ext cx="5440680" cy="210413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55080" y="3402578"/>
            <a:ext cx="5440680" cy="27432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Photo review: image checks for an engineer to confirm; never proof on their 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86626"/>
            <a:ext cx="5440680" cy="1471173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What the screens show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AI output is always labelled and never approves, verifies or closes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Answers and requirements cite retrieved passages only</a:t>
            </a:r>
          </a:p>
          <a:p>
            <a:pPr algn="l" marL="201168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1F2937"/>
                </a:solidFill>
                <a:latin typeface="Calibri"/>
              </a:rPr>
              <a:t>Role checks happen in the API; the browser only renders what it is allowed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– Performance &amp; Engineering Quality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914400"/>
                <a:gridCol w="822960"/>
                <a:gridCol w="9144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Load test run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Req/s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 p95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Single user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28 ms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Saturation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745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Realistic mix (2 s think time)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100 + 2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802 ms</a:t>
                      </a:r>
                    </a:p>
                  </a:txBody>
                  <a:tcPr>
                    <a:solidFill>
                      <a:srgbClr val="EE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 concurrent reporters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 + 8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718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379476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6492240" cy="12801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C9A3C"/>
                </a:solidFill>
                <a:latin typeface="Calibri"/>
              </a:rPr>
              <a:t>Bug found and fixed by the load test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Two reports submitted at the same moment received the same reference and one failed (HTTP 500). Fixed with a PostgreSQL advisory lock plus a retry; 113 simultaneous reports later, no collision.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325880"/>
            <a:ext cx="4343400" cy="8686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0" y="1325880"/>
            <a:ext cx="100584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275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25880"/>
            <a:ext cx="315468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backend tests (unit, API, migrations, evaluation, red-team)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304288"/>
            <a:ext cx="4343400" cy="8686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20" y="2304288"/>
            <a:ext cx="100584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04288"/>
            <a:ext cx="315468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browser end-to-end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282696"/>
            <a:ext cx="4343400" cy="8686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0" y="3282696"/>
            <a:ext cx="100584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282696"/>
            <a:ext cx="315468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CI jobs green on every pull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261104"/>
            <a:ext cx="4343400" cy="86868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0" y="4261104"/>
            <a:ext cx="100584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61104"/>
            <a:ext cx="3154680" cy="868680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open dependency-audit findings (Python + npm)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34924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One process serves ≈ 55 req/s – enough for a pilot with tens of active users; the dashboard is the first thing to optimise before scaling.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669280" cy="3657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C9A3C"/>
                </a:solidFill>
                <a:latin typeface="Calibri"/>
              </a:rPr>
              <a:t>Achieved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5669280" cy="786384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30352" y="1874520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93776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End-to-end platform: report → AI investigation → human approval → verified closure, with a full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87752"/>
            <a:ext cx="5669280" cy="786384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0352" y="2770632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87752"/>
            <a:ext cx="493776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Six bounded agents plus a deterministic risk engine; outputs validated, cited and never self-approving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83864"/>
            <a:ext cx="5669280" cy="786384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30352" y="3666744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83864"/>
            <a:ext cx="493776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Accuracy targets met on held-out data: class 89%, domain 93%, retrieval 93%, 0 critical under-rated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379976"/>
            <a:ext cx="5669280" cy="786384"/>
          </a:xfrm>
          <a:prstGeom prst="roundRect">
            <a:avLst>
              <a:gd name="adj" fmla="val 8000"/>
            </a:avLst>
          </a:prstGeom>
          <a:solidFill>
            <a:srgbClr val="E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30352" y="4562856"/>
            <a:ext cx="411480" cy="411480"/>
          </a:xfrm>
          <a:prstGeom prst="ellipse">
            <a:avLst/>
          </a:prstGeom>
          <a:solidFill>
            <a:srgbClr val="4C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79976"/>
            <a:ext cx="493776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Production engineering: secure API, 7-job CI, Docker image, Azure templates, load-tested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5440680" cy="3657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91640"/>
            <a:ext cx="5440680" cy="7863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521208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Real data: </a:t>
            </a:r>
            <a:r>
              <a:rPr sz="1300" b="0">
                <a:solidFill>
                  <a:srgbClr val="1F2937"/>
                </a:solidFill>
                <a:latin typeface="Calibri"/>
              </a:rPr>
              <a:t>Expert-labelled pilot reports; real OSHA Severe Injury Reports scoring (pipeline ready)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587752"/>
            <a:ext cx="5440680" cy="7863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2240" y="2587752"/>
            <a:ext cx="521208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Claude provider: </a:t>
            </a:r>
            <a:r>
              <a:rPr sz="1300" b="0">
                <a:solidFill>
                  <a:srgbClr val="1F2937"/>
                </a:solidFill>
                <a:latin typeface="Calibri"/>
              </a:rPr>
              <a:t>Score the LLM provider on the same held-out protocol with an API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483864"/>
            <a:ext cx="5440680" cy="7863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3483864"/>
            <a:ext cx="521208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Scale: </a:t>
            </a:r>
            <a:r>
              <a:rPr sz="1300" b="0">
                <a:solidFill>
                  <a:srgbClr val="1F2937"/>
                </a:solidFill>
                <a:latin typeface="Calibri"/>
              </a:rPr>
              <a:t>SQL aggregates and pagination for the dashboard; shared login throttle before scaling 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379976"/>
            <a:ext cx="5440680" cy="786384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0" y="4379976"/>
            <a:ext cx="5212080" cy="7863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Deploy &amp; extend: </a:t>
            </a:r>
            <a:r>
              <a:rPr sz="1300" b="0">
                <a:solidFill>
                  <a:srgbClr val="1F2937"/>
                </a:solidFill>
                <a:latin typeface="Calibri"/>
              </a:rPr>
              <a:t>Azure staging; licensed vision model; graph-aware retrieval; OIDC sign-in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349240"/>
            <a:ext cx="9601200" cy="32004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Site Guard AI is decision support: people stay accountable for every safety decision, and the system never certifies legal compliance.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554480"/>
            <a:ext cx="8869680" cy="329184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 sincerely thank the University and LTIMindtree for the Advanced Industry Integrated M.Tech / MCA Program, and L&amp;T EduTech as implementation partner, for the opportunity and guidance to carry out this project.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 am grateful to my project guide, mentors and reviewers for their valuable feedback across the reviews, and to my family and peers for their constant support.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– S.K. Sricharan (T9984)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977639" y="57036"/>
            <a:ext cx="809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Site Guard AI: Multi-Agent Construction Safety &amp; Quality Incident Resolution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84280" cy="4023360"/>
          </a:xfrm>
          <a:prstGeom prst="rect">
            <a:avLst/>
          </a:prstGeom>
          <a:noFill/>
        </p:spPr>
        <p:txBody>
          <a:bodyPr wrap="square" anchor="t" lIns="73152" rIns="73152" tIns="73152" bIns="73152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[1]  </a:t>
            </a:r>
            <a:r>
              <a:rPr sz="1500" b="0">
                <a:solidFill>
                  <a:srgbClr val="1F2937"/>
                </a:solidFill>
                <a:latin typeface="Calibri"/>
              </a:rPr>
              <a:t>U.S. OSHA, 29 CFR Part 1926 – Safety and Health Regulations for Construction (Subparts E, K, L, M, P, CC).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[2]  </a:t>
            </a:r>
            <a:r>
              <a:rPr sz="1500" b="0">
                <a:solidFill>
                  <a:srgbClr val="1F2937"/>
                </a:solidFill>
                <a:latin typeface="Calibri"/>
              </a:rPr>
              <a:t>U.S. OSHA, Severe Injury Reports dataset, https://www.osha.gov/severeinjury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[3]  </a:t>
            </a:r>
            <a:r>
              <a:rPr sz="1500" b="0">
                <a:solidFill>
                  <a:srgbClr val="1F2937"/>
                </a:solidFill>
                <a:latin typeface="Calibri"/>
              </a:rPr>
              <a:t>UK: The Work at Height Regulations 2005; CDM Regulations 2015; LOLER 1998; RIDDOR 2013.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[4]  </a:t>
            </a:r>
            <a:r>
              <a:rPr sz="1500" b="0">
                <a:solidFill>
                  <a:srgbClr val="1F2937"/>
                </a:solidFill>
                <a:latin typeface="Calibri"/>
              </a:rPr>
              <a:t>India: Building and Other Construction Workers Act 1996; OSH and Working Conditions Code 2020.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[5]  </a:t>
            </a:r>
            <a:r>
              <a:rPr sz="1500" b="0">
                <a:solidFill>
                  <a:srgbClr val="1F2937"/>
                </a:solidFill>
                <a:latin typeface="Calibri"/>
              </a:rPr>
              <a:t>ISO 45001:2018, Occupational health and safety management systems – Requirements.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[6]  </a:t>
            </a:r>
            <a:r>
              <a:rPr sz="1500" b="0">
                <a:solidFill>
                  <a:srgbClr val="1F2937"/>
                </a:solidFill>
                <a:latin typeface="Calibri"/>
              </a:rPr>
              <a:t>S. Robertson and H. Zaragoza, “The Probabilistic Relevance Framework: BM25 and Beyond,” Foundations and Trends in Information Retrieval, 2009.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[7]  </a:t>
            </a:r>
            <a:r>
              <a:rPr sz="1500" b="0">
                <a:solidFill>
                  <a:srgbClr val="1F2937"/>
                </a:solidFill>
                <a:latin typeface="Calibri"/>
              </a:rPr>
              <a:t>G. V. Cormack, C. L. A. Clarke and S. Büttcher, “Reciprocal Rank Fusion outperforms Condorcet and individual rank learning methods,” SIGIR 2009.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[8]  </a:t>
            </a:r>
            <a:r>
              <a:rPr sz="1500" b="0">
                <a:solidFill>
                  <a:srgbClr val="1F2937"/>
                </a:solidFill>
                <a:latin typeface="Calibri"/>
              </a:rPr>
              <a:t>P. Lewis et al., “Retrieval-Augmented Generation for Knowledge-Intensive NLP Tasks,” NeurIPS 2020.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[9]  </a:t>
            </a:r>
            <a:r>
              <a:rPr sz="1500" b="0">
                <a:solidFill>
                  <a:srgbClr val="1F2937"/>
                </a:solidFill>
                <a:latin typeface="Calibri"/>
              </a:rPr>
              <a:t>OWASP, Top 10 for Large Language Model Applications (prompt injection, insecure output handling).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[10]  </a:t>
            </a:r>
            <a:r>
              <a:rPr sz="1500" b="0">
                <a:solidFill>
                  <a:srgbClr val="1F2937"/>
                </a:solidFill>
                <a:latin typeface="Calibri"/>
              </a:rPr>
              <a:t>Documentation: FastAPI, SQLAlchemy, PostgreSQL / pgvector, Neo4j, Next.js, Playwright, Anthropic Claude API.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[11]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Project repository: github.com/sricharansk/SITEGUARD-AI (docs/EVALUATION.md, docs/LOAD_TEST.md, docs/RESULTS.md).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